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Open Sauce Bold" charset="1" panose="00000800000000000000"/>
      <p:regular r:id="rId20"/>
    </p:embeddedFont>
    <p:embeddedFont>
      <p:font typeface="Open Sauce Heavy" charset="1" panose="00000A00000000000000"/>
      <p:regular r:id="rId21"/>
    </p:embeddedFont>
    <p:embeddedFont>
      <p:font typeface="Open Sauce" charset="1" panose="00000500000000000000"/>
      <p:regular r:id="rId22"/>
    </p:embeddedFont>
    <p:embeddedFont>
      <p:font typeface="Open Sauce Bold Italics" charset="1" panose="000008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svg" Type="http://schemas.openxmlformats.org/officeDocument/2006/relationships/image"/><Relationship Id="rId12" Target="../media/image29.pn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svg" Type="http://schemas.openxmlformats.org/officeDocument/2006/relationships/image"/><Relationship Id="rId11" Target="../media/image39.png" Type="http://schemas.openxmlformats.org/officeDocument/2006/relationships/image"/><Relationship Id="rId12" Target="../media/image40.svg" Type="http://schemas.openxmlformats.org/officeDocument/2006/relationships/image"/><Relationship Id="rId13" Target="../media/image41.png" Type="http://schemas.openxmlformats.org/officeDocument/2006/relationships/image"/><Relationship Id="rId14" Target="../media/image42.svg" Type="http://schemas.openxmlformats.org/officeDocument/2006/relationships/image"/><Relationship Id="rId15" Target="../media/image43.png" Type="http://schemas.openxmlformats.org/officeDocument/2006/relationships/image"/><Relationship Id="rId16" Target="../media/image44.svg" Type="http://schemas.openxmlformats.org/officeDocument/2006/relationships/image"/><Relationship Id="rId2" Target="../media/image30.jpe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media/image3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png" Type="http://schemas.openxmlformats.org/officeDocument/2006/relationships/image"/><Relationship Id="rId4" Target="../media/image47.png" Type="http://schemas.openxmlformats.org/officeDocument/2006/relationships/image"/><Relationship Id="rId5" Target="../media/image4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jpeg" Type="http://schemas.openxmlformats.org/officeDocument/2006/relationships/image"/><Relationship Id="rId3" Target="../media/image50.png" Type="http://schemas.openxmlformats.org/officeDocument/2006/relationships/image"/><Relationship Id="rId4" Target="../media/image5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 Id="rId3" Target="../media/image53.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54.png" Type="http://schemas.openxmlformats.org/officeDocument/2006/relationships/image"/><Relationship Id="rId7" Target="../media/image55.png" Type="http://schemas.openxmlformats.org/officeDocument/2006/relationships/image"/><Relationship Id="rId8" Target="../media/image5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 Id="rId3" Target="../media/image53.sv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sp>
        <p:nvSpPr>
          <p:cNvPr name="Freeform 2" id="2"/>
          <p:cNvSpPr/>
          <p:nvPr/>
        </p:nvSpPr>
        <p:spPr>
          <a:xfrm flipH="false" flipV="false" rot="0">
            <a:off x="15047759" y="3749017"/>
            <a:ext cx="3240241" cy="6504134"/>
          </a:xfrm>
          <a:custGeom>
            <a:avLst/>
            <a:gdLst/>
            <a:ahLst/>
            <a:cxnLst/>
            <a:rect r="r" b="b" t="t" l="l"/>
            <a:pathLst>
              <a:path h="6504134" w="3240241">
                <a:moveTo>
                  <a:pt x="0" y="0"/>
                </a:moveTo>
                <a:lnTo>
                  <a:pt x="3240241" y="0"/>
                </a:lnTo>
                <a:lnTo>
                  <a:pt x="3240241" y="6504133"/>
                </a:lnTo>
                <a:lnTo>
                  <a:pt x="0" y="65041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032403" y="-1448305"/>
            <a:ext cx="5255597" cy="13183610"/>
            <a:chOff x="0" y="0"/>
            <a:chExt cx="1384190" cy="3472227"/>
          </a:xfrm>
        </p:grpSpPr>
        <p:sp>
          <p:nvSpPr>
            <p:cNvPr name="Freeform 4" id="4"/>
            <p:cNvSpPr/>
            <p:nvPr/>
          </p:nvSpPr>
          <p:spPr>
            <a:xfrm flipH="false" flipV="false" rot="0">
              <a:off x="0" y="0"/>
              <a:ext cx="1384190" cy="3472226"/>
            </a:xfrm>
            <a:custGeom>
              <a:avLst/>
              <a:gdLst/>
              <a:ahLst/>
              <a:cxnLst/>
              <a:rect r="r" b="b" t="t" l="l"/>
              <a:pathLst>
                <a:path h="3472226" w="1384190">
                  <a:moveTo>
                    <a:pt x="0" y="0"/>
                  </a:moveTo>
                  <a:lnTo>
                    <a:pt x="1384190" y="0"/>
                  </a:lnTo>
                  <a:lnTo>
                    <a:pt x="1384190" y="3472226"/>
                  </a:lnTo>
                  <a:lnTo>
                    <a:pt x="0" y="3472226"/>
                  </a:lnTo>
                  <a:close/>
                </a:path>
              </a:pathLst>
            </a:custGeom>
            <a:solidFill>
              <a:srgbClr val="3F9C39"/>
            </a:solidFill>
          </p:spPr>
        </p:sp>
        <p:sp>
          <p:nvSpPr>
            <p:cNvPr name="TextBox 5" id="5"/>
            <p:cNvSpPr txBox="true"/>
            <p:nvPr/>
          </p:nvSpPr>
          <p:spPr>
            <a:xfrm>
              <a:off x="0" y="-19050"/>
              <a:ext cx="1384190" cy="3491277"/>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9432880" y="1526000"/>
            <a:ext cx="7234999" cy="7234999"/>
          </a:xfrm>
          <a:custGeom>
            <a:avLst/>
            <a:gdLst/>
            <a:ahLst/>
            <a:cxnLst/>
            <a:rect r="r" b="b" t="t" l="l"/>
            <a:pathLst>
              <a:path h="7234999" w="7234999">
                <a:moveTo>
                  <a:pt x="0" y="0"/>
                </a:moveTo>
                <a:lnTo>
                  <a:pt x="7234999" y="0"/>
                </a:lnTo>
                <a:lnTo>
                  <a:pt x="7234999" y="7235000"/>
                </a:lnTo>
                <a:lnTo>
                  <a:pt x="0" y="7235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7" id="7"/>
          <p:cNvGrpSpPr>
            <a:grpSpLocks noChangeAspect="true"/>
          </p:cNvGrpSpPr>
          <p:nvPr/>
        </p:nvGrpSpPr>
        <p:grpSpPr>
          <a:xfrm rot="0">
            <a:off x="10106590" y="2199722"/>
            <a:ext cx="5887580" cy="5887556"/>
            <a:chOff x="0" y="0"/>
            <a:chExt cx="6350000" cy="6349975"/>
          </a:xfrm>
        </p:grpSpPr>
        <p:sp>
          <p:nvSpPr>
            <p:cNvPr name="Freeform 8" id="8"/>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6"/>
              <a:stretch>
                <a:fillRect l="0" t="0" r="0" b="0"/>
              </a:stretch>
            </a:blipFill>
          </p:spPr>
        </p:sp>
      </p:grpSp>
      <p:grpSp>
        <p:nvGrpSpPr>
          <p:cNvPr name="Group 9" id="9"/>
          <p:cNvGrpSpPr/>
          <p:nvPr/>
        </p:nvGrpSpPr>
        <p:grpSpPr>
          <a:xfrm rot="0">
            <a:off x="1057435" y="3489495"/>
            <a:ext cx="78988" cy="3562352"/>
            <a:chOff x="0" y="0"/>
            <a:chExt cx="20803" cy="938233"/>
          </a:xfrm>
        </p:grpSpPr>
        <p:sp>
          <p:nvSpPr>
            <p:cNvPr name="Freeform 10" id="10"/>
            <p:cNvSpPr/>
            <p:nvPr/>
          </p:nvSpPr>
          <p:spPr>
            <a:xfrm flipH="false" flipV="false" rot="0">
              <a:off x="0" y="0"/>
              <a:ext cx="20803" cy="938233"/>
            </a:xfrm>
            <a:custGeom>
              <a:avLst/>
              <a:gdLst/>
              <a:ahLst/>
              <a:cxnLst/>
              <a:rect r="r" b="b" t="t" l="l"/>
              <a:pathLst>
                <a:path h="938233" w="20803">
                  <a:moveTo>
                    <a:pt x="0" y="0"/>
                  </a:moveTo>
                  <a:lnTo>
                    <a:pt x="20803" y="0"/>
                  </a:lnTo>
                  <a:lnTo>
                    <a:pt x="20803" y="938233"/>
                  </a:lnTo>
                  <a:lnTo>
                    <a:pt x="0" y="938233"/>
                  </a:lnTo>
                  <a:close/>
                </a:path>
              </a:pathLst>
            </a:custGeom>
            <a:solidFill>
              <a:srgbClr val="134593"/>
            </a:solidFill>
            <a:ln cap="sq">
              <a:noFill/>
              <a:prstDash val="solid"/>
              <a:miter/>
            </a:ln>
          </p:spPr>
        </p:sp>
        <p:sp>
          <p:nvSpPr>
            <p:cNvPr name="TextBox 11" id="11"/>
            <p:cNvSpPr txBox="true"/>
            <p:nvPr/>
          </p:nvSpPr>
          <p:spPr>
            <a:xfrm>
              <a:off x="0" y="-19050"/>
              <a:ext cx="20803" cy="957283"/>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12" id="12"/>
          <p:cNvSpPr txBox="true"/>
          <p:nvPr/>
        </p:nvSpPr>
        <p:spPr>
          <a:xfrm rot="0">
            <a:off x="1387521" y="3346620"/>
            <a:ext cx="7214594" cy="1285511"/>
          </a:xfrm>
          <a:prstGeom prst="rect">
            <a:avLst/>
          </a:prstGeom>
        </p:spPr>
        <p:txBody>
          <a:bodyPr anchor="t" rtlCol="false" tIns="0" lIns="0" bIns="0" rIns="0">
            <a:spAutoFit/>
          </a:bodyPr>
          <a:lstStyle/>
          <a:p>
            <a:pPr algn="l">
              <a:lnSpc>
                <a:spcPts val="10510"/>
              </a:lnSpc>
            </a:pPr>
            <a:r>
              <a:rPr lang="en-US" sz="7507" spc="-150" b="true">
                <a:solidFill>
                  <a:srgbClr val="191919"/>
                </a:solidFill>
                <a:latin typeface="Open Sauce Bold"/>
                <a:ea typeface="Open Sauce Bold"/>
                <a:cs typeface="Open Sauce Bold"/>
                <a:sym typeface="Open Sauce Bold"/>
              </a:rPr>
              <a:t>Site web </a:t>
            </a:r>
          </a:p>
        </p:txBody>
      </p:sp>
      <p:sp>
        <p:nvSpPr>
          <p:cNvPr name="TextBox 13" id="13"/>
          <p:cNvSpPr txBox="true"/>
          <p:nvPr/>
        </p:nvSpPr>
        <p:spPr>
          <a:xfrm rot="0">
            <a:off x="1387521" y="4403531"/>
            <a:ext cx="8293728" cy="2002893"/>
          </a:xfrm>
          <a:prstGeom prst="rect">
            <a:avLst/>
          </a:prstGeom>
        </p:spPr>
        <p:txBody>
          <a:bodyPr anchor="t" rtlCol="false" tIns="0" lIns="0" bIns="0" rIns="0">
            <a:spAutoFit/>
          </a:bodyPr>
          <a:lstStyle/>
          <a:p>
            <a:pPr algn="l">
              <a:lnSpc>
                <a:spcPts val="16306"/>
              </a:lnSpc>
            </a:pPr>
            <a:r>
              <a:rPr lang="en-US" sz="11647" spc="-232" b="true">
                <a:solidFill>
                  <a:srgbClr val="191919"/>
                </a:solidFill>
                <a:latin typeface="Open Sauce Heavy"/>
                <a:ea typeface="Open Sauce Heavy"/>
                <a:cs typeface="Open Sauce Heavy"/>
                <a:sym typeface="Open Sauce Heavy"/>
              </a:rPr>
              <a:t>ARTF</a:t>
            </a:r>
          </a:p>
        </p:txBody>
      </p:sp>
      <p:sp>
        <p:nvSpPr>
          <p:cNvPr name="TextBox 14" id="14"/>
          <p:cNvSpPr txBox="true"/>
          <p:nvPr/>
        </p:nvSpPr>
        <p:spPr>
          <a:xfrm rot="0">
            <a:off x="2240607" y="1361214"/>
            <a:ext cx="4195884" cy="838508"/>
          </a:xfrm>
          <a:prstGeom prst="rect">
            <a:avLst/>
          </a:prstGeom>
        </p:spPr>
        <p:txBody>
          <a:bodyPr anchor="t" rtlCol="false" tIns="0" lIns="0" bIns="0" rIns="0">
            <a:spAutoFit/>
          </a:bodyPr>
          <a:lstStyle/>
          <a:p>
            <a:pPr algn="l">
              <a:lnSpc>
                <a:spcPts val="3287"/>
              </a:lnSpc>
            </a:pPr>
            <a:r>
              <a:rPr lang="en-US" sz="2859" spc="-57">
                <a:solidFill>
                  <a:srgbClr val="191919"/>
                </a:solidFill>
                <a:latin typeface="Open Sauce"/>
                <a:ea typeface="Open Sauce"/>
                <a:cs typeface="Open Sauce"/>
                <a:sym typeface="Open Sauce"/>
              </a:rPr>
              <a:t>Réalisé par le Département Technique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grpSp>
        <p:nvGrpSpPr>
          <p:cNvPr name="Group 2" id="2"/>
          <p:cNvGrpSpPr/>
          <p:nvPr/>
        </p:nvGrpSpPr>
        <p:grpSpPr>
          <a:xfrm rot="0">
            <a:off x="11710892" y="0"/>
            <a:ext cx="6648057" cy="10287000"/>
            <a:chOff x="0" y="0"/>
            <a:chExt cx="1750928" cy="2709333"/>
          </a:xfrm>
        </p:grpSpPr>
        <p:sp>
          <p:nvSpPr>
            <p:cNvPr name="Freeform 3" id="3"/>
            <p:cNvSpPr/>
            <p:nvPr/>
          </p:nvSpPr>
          <p:spPr>
            <a:xfrm flipH="false" flipV="false" rot="0">
              <a:off x="0" y="0"/>
              <a:ext cx="1750928" cy="2709333"/>
            </a:xfrm>
            <a:custGeom>
              <a:avLst/>
              <a:gdLst/>
              <a:ahLst/>
              <a:cxnLst/>
              <a:rect r="r" b="b" t="t" l="l"/>
              <a:pathLst>
                <a:path h="2709333" w="1750928">
                  <a:moveTo>
                    <a:pt x="0" y="0"/>
                  </a:moveTo>
                  <a:lnTo>
                    <a:pt x="1750928" y="0"/>
                  </a:lnTo>
                  <a:lnTo>
                    <a:pt x="1750928" y="2709333"/>
                  </a:lnTo>
                  <a:lnTo>
                    <a:pt x="0" y="2709333"/>
                  </a:lnTo>
                  <a:close/>
                </a:path>
              </a:pathLst>
            </a:custGeom>
            <a:solidFill>
              <a:srgbClr val="106861"/>
            </a:solidFill>
            <a:ln cap="sq">
              <a:noFill/>
              <a:prstDash val="solid"/>
              <a:miter/>
            </a:ln>
          </p:spPr>
        </p:sp>
        <p:sp>
          <p:nvSpPr>
            <p:cNvPr name="TextBox 4" id="4"/>
            <p:cNvSpPr txBox="true"/>
            <p:nvPr/>
          </p:nvSpPr>
          <p:spPr>
            <a:xfrm>
              <a:off x="0" y="-19050"/>
              <a:ext cx="1750928" cy="2728383"/>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5" id="5"/>
          <p:cNvGrpSpPr/>
          <p:nvPr/>
        </p:nvGrpSpPr>
        <p:grpSpPr>
          <a:xfrm rot="0">
            <a:off x="-1390959" y="8567821"/>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EEA00"/>
            </a:solidFill>
            <a:ln cap="sq">
              <a:noFill/>
              <a:prstDash val="solid"/>
              <a:miter/>
            </a:ln>
          </p:spPr>
        </p:sp>
        <p:sp>
          <p:nvSpPr>
            <p:cNvPr name="TextBox 7" id="7"/>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8" id="8"/>
          <p:cNvGrpSpPr/>
          <p:nvPr/>
        </p:nvGrpSpPr>
        <p:grpSpPr>
          <a:xfrm rot="0">
            <a:off x="8554523" y="3992589"/>
            <a:ext cx="654889" cy="65488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EEA00"/>
            </a:solidFill>
            <a:ln cap="sq">
              <a:noFill/>
              <a:prstDash val="solid"/>
              <a:miter/>
            </a:ln>
          </p:spPr>
        </p:sp>
        <p:sp>
          <p:nvSpPr>
            <p:cNvPr name="TextBox 10" id="10"/>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Freeform 11" id="11"/>
          <p:cNvSpPr/>
          <p:nvPr/>
        </p:nvSpPr>
        <p:spPr>
          <a:xfrm flipH="false" flipV="false" rot="0">
            <a:off x="9347055" y="0"/>
            <a:ext cx="8940945" cy="10287000"/>
          </a:xfrm>
          <a:custGeom>
            <a:avLst/>
            <a:gdLst/>
            <a:ahLst/>
            <a:cxnLst/>
            <a:rect r="r" b="b" t="t" l="l"/>
            <a:pathLst>
              <a:path h="10287000" w="8940945">
                <a:moveTo>
                  <a:pt x="0" y="0"/>
                </a:moveTo>
                <a:lnTo>
                  <a:pt x="8940945" y="0"/>
                </a:lnTo>
                <a:lnTo>
                  <a:pt x="8940945" y="10287000"/>
                </a:lnTo>
                <a:lnTo>
                  <a:pt x="0" y="10287000"/>
                </a:lnTo>
                <a:lnTo>
                  <a:pt x="0" y="0"/>
                </a:lnTo>
                <a:close/>
              </a:path>
            </a:pathLst>
          </a:custGeom>
          <a:blipFill>
            <a:blip r:embed="rId2"/>
            <a:stretch>
              <a:fillRect l="-45279" t="0" r="-7617" b="0"/>
            </a:stretch>
          </a:blipFill>
        </p:spPr>
      </p:sp>
      <p:grpSp>
        <p:nvGrpSpPr>
          <p:cNvPr name="Group 12" id="12"/>
          <p:cNvGrpSpPr/>
          <p:nvPr/>
        </p:nvGrpSpPr>
        <p:grpSpPr>
          <a:xfrm rot="0">
            <a:off x="5874787" y="-1800225"/>
            <a:ext cx="5657850" cy="565785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9C39"/>
            </a:solidFill>
            <a:ln cap="sq">
              <a:noFill/>
              <a:prstDash val="solid"/>
              <a:miter/>
            </a:ln>
          </p:spPr>
        </p:sp>
        <p:sp>
          <p:nvSpPr>
            <p:cNvPr name="TextBox 14" id="14"/>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15" id="15"/>
          <p:cNvSpPr txBox="true"/>
          <p:nvPr/>
        </p:nvSpPr>
        <p:spPr>
          <a:xfrm rot="0">
            <a:off x="1295137" y="1754095"/>
            <a:ext cx="3630003" cy="808613"/>
          </a:xfrm>
          <a:prstGeom prst="rect">
            <a:avLst/>
          </a:prstGeom>
        </p:spPr>
        <p:txBody>
          <a:bodyPr anchor="t" rtlCol="false" tIns="0" lIns="0" bIns="0" rIns="0">
            <a:spAutoFit/>
          </a:bodyPr>
          <a:lstStyle/>
          <a:p>
            <a:pPr algn="l" marL="0" indent="0" lvl="0">
              <a:lnSpc>
                <a:spcPts val="6644"/>
              </a:lnSpc>
              <a:spcBef>
                <a:spcPct val="0"/>
              </a:spcBef>
            </a:pPr>
            <a:r>
              <a:rPr lang="en-US" b="true" sz="4746" spc="-94">
                <a:solidFill>
                  <a:srgbClr val="191919"/>
                </a:solidFill>
                <a:latin typeface="Open Sauce Bold"/>
                <a:ea typeface="Open Sauce Bold"/>
                <a:cs typeface="Open Sauce Bold"/>
                <a:sym typeface="Open Sauce Bold"/>
              </a:rPr>
              <a:t>Sommaire</a:t>
            </a:r>
          </a:p>
        </p:txBody>
      </p:sp>
      <p:sp>
        <p:nvSpPr>
          <p:cNvPr name="TextBox 16" id="16"/>
          <p:cNvSpPr txBox="true"/>
          <p:nvPr/>
        </p:nvSpPr>
        <p:spPr>
          <a:xfrm rot="0">
            <a:off x="747953" y="3096108"/>
            <a:ext cx="6527627" cy="4838153"/>
          </a:xfrm>
          <a:prstGeom prst="rect">
            <a:avLst/>
          </a:prstGeom>
        </p:spPr>
        <p:txBody>
          <a:bodyPr anchor="t" rtlCol="false" tIns="0" lIns="0" bIns="0" rIns="0">
            <a:spAutoFit/>
          </a:bodyPr>
          <a:lstStyle/>
          <a:p>
            <a:pPr algn="l" marL="565238" indent="-282619" lvl="1">
              <a:lnSpc>
                <a:spcPts val="4345"/>
              </a:lnSpc>
              <a:buFont typeface="Arial"/>
              <a:buChar char="•"/>
            </a:pPr>
            <a:r>
              <a:rPr lang="en-US" sz="2618">
                <a:solidFill>
                  <a:srgbClr val="191919"/>
                </a:solidFill>
                <a:latin typeface="Open Sauce"/>
                <a:ea typeface="Open Sauce"/>
                <a:cs typeface="Open Sauce"/>
                <a:sym typeface="Open Sauce"/>
              </a:rPr>
              <a:t>Contexte &amp; Objectifs du projet</a:t>
            </a:r>
          </a:p>
          <a:p>
            <a:pPr algn="l" marL="565238" indent="-282619" lvl="1">
              <a:lnSpc>
                <a:spcPts val="4345"/>
              </a:lnSpc>
              <a:buFont typeface="Arial"/>
              <a:buChar char="•"/>
            </a:pPr>
            <a:r>
              <a:rPr lang="en-US" sz="2618">
                <a:solidFill>
                  <a:srgbClr val="191919"/>
                </a:solidFill>
                <a:latin typeface="Open Sauce"/>
                <a:ea typeface="Open Sauce"/>
                <a:cs typeface="Open Sauce"/>
                <a:sym typeface="Open Sauce"/>
              </a:rPr>
              <a:t>Présentation générale du site web</a:t>
            </a:r>
          </a:p>
          <a:p>
            <a:pPr algn="l" marL="565238" indent="-282619" lvl="1">
              <a:lnSpc>
                <a:spcPts val="4345"/>
              </a:lnSpc>
              <a:buFont typeface="Arial"/>
              <a:buChar char="•"/>
            </a:pPr>
            <a:r>
              <a:rPr lang="en-US" sz="2618">
                <a:solidFill>
                  <a:srgbClr val="191919"/>
                </a:solidFill>
                <a:latin typeface="Open Sauce"/>
                <a:ea typeface="Open Sauce"/>
                <a:cs typeface="Open Sauce"/>
                <a:sym typeface="Open Sauce"/>
              </a:rPr>
              <a:t>Architecture du site</a:t>
            </a:r>
          </a:p>
          <a:p>
            <a:pPr algn="l" marL="565238" indent="-282619" lvl="1">
              <a:lnSpc>
                <a:spcPts val="4345"/>
              </a:lnSpc>
              <a:buFont typeface="Arial"/>
              <a:buChar char="•"/>
            </a:pPr>
            <a:r>
              <a:rPr lang="en-US" sz="2618">
                <a:solidFill>
                  <a:srgbClr val="191919"/>
                </a:solidFill>
                <a:latin typeface="Open Sauce"/>
                <a:ea typeface="Open Sauce"/>
                <a:cs typeface="Open Sauce"/>
                <a:sym typeface="Open Sauce"/>
              </a:rPr>
              <a:t>Les services en ligne</a:t>
            </a:r>
          </a:p>
          <a:p>
            <a:pPr algn="l" marL="565238" indent="-282619" lvl="1">
              <a:lnSpc>
                <a:spcPts val="4345"/>
              </a:lnSpc>
              <a:buFont typeface="Arial"/>
              <a:buChar char="•"/>
            </a:pPr>
            <a:r>
              <a:rPr lang="en-US" sz="2618">
                <a:solidFill>
                  <a:srgbClr val="191919"/>
                </a:solidFill>
                <a:latin typeface="Open Sauce"/>
                <a:ea typeface="Open Sauce"/>
                <a:cs typeface="Open Sauce"/>
                <a:sym typeface="Open Sauce"/>
              </a:rPr>
              <a:t>Mise en avant des contenus publics</a:t>
            </a:r>
          </a:p>
          <a:p>
            <a:pPr algn="l" marL="565238" indent="-282619" lvl="1">
              <a:lnSpc>
                <a:spcPts val="4345"/>
              </a:lnSpc>
              <a:buFont typeface="Arial"/>
              <a:buChar char="•"/>
            </a:pPr>
            <a:r>
              <a:rPr lang="en-US" sz="2618">
                <a:solidFill>
                  <a:srgbClr val="191919"/>
                </a:solidFill>
                <a:latin typeface="Open Sauce"/>
                <a:ea typeface="Open Sauce"/>
                <a:cs typeface="Open Sauce"/>
                <a:sym typeface="Open Sauce"/>
              </a:rPr>
              <a:t>Technologies et sécurité</a:t>
            </a:r>
          </a:p>
          <a:p>
            <a:pPr algn="l" marL="565238" indent="-282619" lvl="1">
              <a:lnSpc>
                <a:spcPts val="4345"/>
              </a:lnSpc>
              <a:buFont typeface="Arial"/>
              <a:buChar char="•"/>
            </a:pPr>
            <a:r>
              <a:rPr lang="en-US" sz="2618">
                <a:solidFill>
                  <a:srgbClr val="191919"/>
                </a:solidFill>
                <a:latin typeface="Open Sauce"/>
                <a:ea typeface="Open Sauce"/>
                <a:cs typeface="Open Sauce"/>
                <a:sym typeface="Open Sauce"/>
              </a:rPr>
              <a:t>Imp</a:t>
            </a:r>
            <a:r>
              <a:rPr lang="en-US" sz="2618">
                <a:solidFill>
                  <a:srgbClr val="191919"/>
                </a:solidFill>
                <a:latin typeface="Open Sauce"/>
                <a:ea typeface="Open Sauce"/>
                <a:cs typeface="Open Sauce"/>
                <a:sym typeface="Open Sauce"/>
              </a:rPr>
              <a:t>acts et bénéfices</a:t>
            </a:r>
          </a:p>
          <a:p>
            <a:pPr algn="l" marL="565238" indent="-282619" lvl="1">
              <a:lnSpc>
                <a:spcPts val="4345"/>
              </a:lnSpc>
              <a:buFont typeface="Arial"/>
              <a:buChar char="•"/>
            </a:pPr>
            <a:r>
              <a:rPr lang="en-US" sz="2618">
                <a:solidFill>
                  <a:srgbClr val="191919"/>
                </a:solidFill>
                <a:latin typeface="Open Sauce"/>
                <a:ea typeface="Open Sauce"/>
                <a:cs typeface="Open Sauce"/>
                <a:sym typeface="Open Sauce"/>
              </a:rPr>
              <a:t>Perspectives d’évo</a:t>
            </a:r>
            <a:r>
              <a:rPr lang="en-US" sz="2618">
                <a:solidFill>
                  <a:srgbClr val="191919"/>
                </a:solidFill>
                <a:latin typeface="Open Sauce"/>
                <a:ea typeface="Open Sauce"/>
                <a:cs typeface="Open Sauce"/>
                <a:sym typeface="Open Sauce"/>
              </a:rPr>
              <a:t>lution</a:t>
            </a:r>
          </a:p>
          <a:p>
            <a:pPr algn="l" marL="565238" indent="-282619" lvl="1">
              <a:lnSpc>
                <a:spcPts val="4345"/>
              </a:lnSpc>
              <a:buFont typeface="Arial"/>
              <a:buChar char="•"/>
            </a:pPr>
            <a:r>
              <a:rPr lang="en-US" sz="2618">
                <a:solidFill>
                  <a:srgbClr val="191919"/>
                </a:solidFill>
                <a:latin typeface="Open Sauce"/>
                <a:ea typeface="Open Sauce"/>
                <a:cs typeface="Open Sauce"/>
                <a:sym typeface="Open Sauce"/>
              </a:rPr>
              <a:t>C</a:t>
            </a:r>
            <a:r>
              <a:rPr lang="en-US" sz="2618">
                <a:solidFill>
                  <a:srgbClr val="191919"/>
                </a:solidFill>
                <a:latin typeface="Open Sauce"/>
                <a:ea typeface="Open Sauce"/>
                <a:cs typeface="Open Sauce"/>
                <a:sym typeface="Open Sauce"/>
              </a:rPr>
              <a:t>onclusion</a:t>
            </a:r>
          </a:p>
        </p:txBody>
      </p:sp>
      <p:grpSp>
        <p:nvGrpSpPr>
          <p:cNvPr name="Group 17" id="17"/>
          <p:cNvGrpSpPr/>
          <p:nvPr/>
        </p:nvGrpSpPr>
        <p:grpSpPr>
          <a:xfrm rot="0">
            <a:off x="17089790" y="6793362"/>
            <a:ext cx="654889" cy="65488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9C39"/>
            </a:solidFill>
            <a:ln cap="sq">
              <a:noFill/>
              <a:prstDash val="solid"/>
              <a:miter/>
            </a:ln>
          </p:spPr>
        </p:sp>
        <p:sp>
          <p:nvSpPr>
            <p:cNvPr name="TextBox 19" id="19"/>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20" id="20"/>
          <p:cNvGrpSpPr/>
          <p:nvPr/>
        </p:nvGrpSpPr>
        <p:grpSpPr>
          <a:xfrm rot="0">
            <a:off x="12011106" y="7606817"/>
            <a:ext cx="654889" cy="654889"/>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9C39"/>
            </a:solidFill>
            <a:ln cap="sq">
              <a:noFill/>
              <a:prstDash val="solid"/>
              <a:miter/>
            </a:ln>
          </p:spPr>
        </p:sp>
        <p:sp>
          <p:nvSpPr>
            <p:cNvPr name="TextBox 22" id="22"/>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2778327" y="7417124"/>
            <a:ext cx="12710840" cy="1184047"/>
          </a:xfrm>
          <a:custGeom>
            <a:avLst/>
            <a:gdLst/>
            <a:ahLst/>
            <a:cxnLst/>
            <a:rect r="r" b="b" t="t" l="l"/>
            <a:pathLst>
              <a:path h="1184047" w="12710840">
                <a:moveTo>
                  <a:pt x="0" y="0"/>
                </a:moveTo>
                <a:lnTo>
                  <a:pt x="12710840" y="0"/>
                </a:lnTo>
                <a:lnTo>
                  <a:pt x="12710840" y="1184046"/>
                </a:lnTo>
                <a:lnTo>
                  <a:pt x="0" y="1184046"/>
                </a:lnTo>
                <a:lnTo>
                  <a:pt x="0" y="0"/>
                </a:lnTo>
                <a:close/>
              </a:path>
            </a:pathLst>
          </a:custGeom>
          <a:blipFill>
            <a:blip r:embed="rId2">
              <a:alphaModFix amt="72000"/>
            </a:blip>
            <a:stretch>
              <a:fillRect l="0" t="0" r="0" b="-208633"/>
            </a:stretch>
          </a:blipFill>
        </p:spPr>
      </p:sp>
      <p:grpSp>
        <p:nvGrpSpPr>
          <p:cNvPr name="Group 3" id="3"/>
          <p:cNvGrpSpPr/>
          <p:nvPr/>
        </p:nvGrpSpPr>
        <p:grpSpPr>
          <a:xfrm rot="0">
            <a:off x="16113923" y="9258300"/>
            <a:ext cx="327444" cy="32744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cap="sq">
              <a:noFill/>
              <a:prstDash val="solid"/>
              <a:miter/>
            </a:ln>
          </p:spPr>
        </p:sp>
        <p:sp>
          <p:nvSpPr>
            <p:cNvPr name="TextBox 5" id="5"/>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6" id="6"/>
          <p:cNvGrpSpPr/>
          <p:nvPr/>
        </p:nvGrpSpPr>
        <p:grpSpPr>
          <a:xfrm rot="0">
            <a:off x="15648108" y="9258300"/>
            <a:ext cx="327444" cy="32744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9C39"/>
            </a:solidFill>
            <a:ln cap="sq">
              <a:noFill/>
              <a:prstDash val="solid"/>
              <a:miter/>
            </a:ln>
          </p:spPr>
        </p:sp>
        <p:sp>
          <p:nvSpPr>
            <p:cNvPr name="TextBox 8" id="8"/>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9" id="9"/>
          <p:cNvGrpSpPr/>
          <p:nvPr/>
        </p:nvGrpSpPr>
        <p:grpSpPr>
          <a:xfrm rot="0">
            <a:off x="15161723" y="9258300"/>
            <a:ext cx="327444" cy="32744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EEA00"/>
            </a:solidFill>
            <a:ln cap="sq">
              <a:noFill/>
              <a:prstDash val="solid"/>
              <a:miter/>
            </a:ln>
          </p:spPr>
        </p:sp>
        <p:sp>
          <p:nvSpPr>
            <p:cNvPr name="TextBox 11" id="11"/>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12" id="12"/>
          <p:cNvSpPr txBox="true"/>
          <p:nvPr/>
        </p:nvSpPr>
        <p:spPr>
          <a:xfrm rot="0">
            <a:off x="5679731" y="2788642"/>
            <a:ext cx="6928538" cy="1158738"/>
          </a:xfrm>
          <a:prstGeom prst="rect">
            <a:avLst/>
          </a:prstGeom>
        </p:spPr>
        <p:txBody>
          <a:bodyPr anchor="t" rtlCol="false" tIns="0" lIns="0" bIns="0" rIns="0">
            <a:spAutoFit/>
          </a:bodyPr>
          <a:lstStyle/>
          <a:p>
            <a:pPr algn="ctr" marL="0" indent="0" lvl="0">
              <a:lnSpc>
                <a:spcPts val="9582"/>
              </a:lnSpc>
              <a:spcBef>
                <a:spcPct val="0"/>
              </a:spcBef>
            </a:pPr>
            <a:r>
              <a:rPr lang="en-US" b="true" sz="6844" spc="-136">
                <a:solidFill>
                  <a:srgbClr val="FDFBFB"/>
                </a:solidFill>
                <a:latin typeface="Open Sauce Bold"/>
                <a:ea typeface="Open Sauce Bold"/>
                <a:cs typeface="Open Sauce Bold"/>
                <a:sym typeface="Open Sauce Bold"/>
              </a:rPr>
              <a:t>Introduction</a:t>
            </a:r>
          </a:p>
        </p:txBody>
      </p:sp>
      <p:sp>
        <p:nvSpPr>
          <p:cNvPr name="Freeform 13" id="13"/>
          <p:cNvSpPr/>
          <p:nvPr/>
        </p:nvSpPr>
        <p:spPr>
          <a:xfrm flipH="false" flipV="false" rot="0">
            <a:off x="-10253" y="0"/>
            <a:ext cx="18288000" cy="3947379"/>
          </a:xfrm>
          <a:custGeom>
            <a:avLst/>
            <a:gdLst/>
            <a:ahLst/>
            <a:cxnLst/>
            <a:rect r="r" b="b" t="t" l="l"/>
            <a:pathLst>
              <a:path h="3947379" w="18288000">
                <a:moveTo>
                  <a:pt x="0" y="0"/>
                </a:moveTo>
                <a:lnTo>
                  <a:pt x="18288000" y="0"/>
                </a:lnTo>
                <a:lnTo>
                  <a:pt x="18288000" y="3947379"/>
                </a:lnTo>
                <a:lnTo>
                  <a:pt x="0" y="3947379"/>
                </a:lnTo>
                <a:lnTo>
                  <a:pt x="0" y="0"/>
                </a:lnTo>
                <a:close/>
              </a:path>
            </a:pathLst>
          </a:custGeom>
          <a:blipFill>
            <a:blip r:embed="rId3"/>
            <a:stretch>
              <a:fillRect l="0" t="-53611" r="0" b="-195017"/>
            </a:stretch>
          </a:blipFill>
        </p:spPr>
      </p:sp>
      <p:grpSp>
        <p:nvGrpSpPr>
          <p:cNvPr name="Group 14" id="14"/>
          <p:cNvGrpSpPr/>
          <p:nvPr/>
        </p:nvGrpSpPr>
        <p:grpSpPr>
          <a:xfrm rot="0">
            <a:off x="2778327" y="3208859"/>
            <a:ext cx="12731346" cy="4208265"/>
            <a:chOff x="0" y="0"/>
            <a:chExt cx="3353112" cy="1108350"/>
          </a:xfrm>
        </p:grpSpPr>
        <p:sp>
          <p:nvSpPr>
            <p:cNvPr name="Freeform 15" id="15"/>
            <p:cNvSpPr/>
            <p:nvPr/>
          </p:nvSpPr>
          <p:spPr>
            <a:xfrm flipH="false" flipV="false" rot="0">
              <a:off x="0" y="0"/>
              <a:ext cx="3353112" cy="1108349"/>
            </a:xfrm>
            <a:custGeom>
              <a:avLst/>
              <a:gdLst/>
              <a:ahLst/>
              <a:cxnLst/>
              <a:rect r="r" b="b" t="t" l="l"/>
              <a:pathLst>
                <a:path h="1108349" w="3353112">
                  <a:moveTo>
                    <a:pt x="15202" y="0"/>
                  </a:moveTo>
                  <a:lnTo>
                    <a:pt x="3337909" y="0"/>
                  </a:lnTo>
                  <a:cubicBezTo>
                    <a:pt x="3341941" y="0"/>
                    <a:pt x="3345808" y="1602"/>
                    <a:pt x="3348659" y="4453"/>
                  </a:cubicBezTo>
                  <a:cubicBezTo>
                    <a:pt x="3351510" y="7304"/>
                    <a:pt x="3353112" y="11171"/>
                    <a:pt x="3353112" y="15202"/>
                  </a:cubicBezTo>
                  <a:lnTo>
                    <a:pt x="3353112" y="1093147"/>
                  </a:lnTo>
                  <a:cubicBezTo>
                    <a:pt x="3353112" y="1097179"/>
                    <a:pt x="3351510" y="1101046"/>
                    <a:pt x="3348659" y="1103897"/>
                  </a:cubicBezTo>
                  <a:cubicBezTo>
                    <a:pt x="3345808" y="1106748"/>
                    <a:pt x="3341941" y="1108349"/>
                    <a:pt x="3337909" y="1108349"/>
                  </a:cubicBezTo>
                  <a:lnTo>
                    <a:pt x="15202" y="1108349"/>
                  </a:lnTo>
                  <a:cubicBezTo>
                    <a:pt x="11171" y="1108349"/>
                    <a:pt x="7304" y="1106748"/>
                    <a:pt x="4453" y="1103897"/>
                  </a:cubicBezTo>
                  <a:cubicBezTo>
                    <a:pt x="1602" y="1101046"/>
                    <a:pt x="0" y="1097179"/>
                    <a:pt x="0" y="1093147"/>
                  </a:cubicBezTo>
                  <a:lnTo>
                    <a:pt x="0" y="15202"/>
                  </a:lnTo>
                  <a:cubicBezTo>
                    <a:pt x="0" y="11171"/>
                    <a:pt x="1602" y="7304"/>
                    <a:pt x="4453" y="4453"/>
                  </a:cubicBezTo>
                  <a:cubicBezTo>
                    <a:pt x="7304" y="1602"/>
                    <a:pt x="11171" y="0"/>
                    <a:pt x="15202" y="0"/>
                  </a:cubicBezTo>
                  <a:close/>
                </a:path>
              </a:pathLst>
            </a:custGeom>
            <a:solidFill>
              <a:srgbClr val="106861"/>
            </a:solidFill>
            <a:ln cap="rnd">
              <a:noFill/>
              <a:prstDash val="solid"/>
              <a:round/>
            </a:ln>
          </p:spPr>
        </p:sp>
        <p:sp>
          <p:nvSpPr>
            <p:cNvPr name="TextBox 16" id="16"/>
            <p:cNvSpPr txBox="true"/>
            <p:nvPr/>
          </p:nvSpPr>
          <p:spPr>
            <a:xfrm>
              <a:off x="0" y="-19050"/>
              <a:ext cx="3353112" cy="112740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17" id="17"/>
          <p:cNvGrpSpPr/>
          <p:nvPr/>
        </p:nvGrpSpPr>
        <p:grpSpPr>
          <a:xfrm rot="0">
            <a:off x="0" y="0"/>
            <a:ext cx="18288000" cy="4491629"/>
            <a:chOff x="0" y="0"/>
            <a:chExt cx="4816593" cy="1182980"/>
          </a:xfrm>
        </p:grpSpPr>
        <p:sp>
          <p:nvSpPr>
            <p:cNvPr name="Freeform 18" id="18"/>
            <p:cNvSpPr/>
            <p:nvPr/>
          </p:nvSpPr>
          <p:spPr>
            <a:xfrm flipH="false" flipV="false" rot="0">
              <a:off x="0" y="0"/>
              <a:ext cx="4816592" cy="1182980"/>
            </a:xfrm>
            <a:custGeom>
              <a:avLst/>
              <a:gdLst/>
              <a:ahLst/>
              <a:cxnLst/>
              <a:rect r="r" b="b" t="t" l="l"/>
              <a:pathLst>
                <a:path h="1182980" w="4816592">
                  <a:moveTo>
                    <a:pt x="0" y="0"/>
                  </a:moveTo>
                  <a:lnTo>
                    <a:pt x="4816592" y="0"/>
                  </a:lnTo>
                  <a:lnTo>
                    <a:pt x="4816592" y="1182980"/>
                  </a:lnTo>
                  <a:lnTo>
                    <a:pt x="0" y="1182980"/>
                  </a:lnTo>
                  <a:close/>
                </a:path>
              </a:pathLst>
            </a:custGeom>
            <a:solidFill>
              <a:srgbClr val="106861">
                <a:alpha val="35686"/>
              </a:srgbClr>
            </a:solidFill>
            <a:ln cap="sq">
              <a:noFill/>
              <a:prstDash val="solid"/>
              <a:miter/>
            </a:ln>
          </p:spPr>
        </p:sp>
        <p:sp>
          <p:nvSpPr>
            <p:cNvPr name="TextBox 19" id="19"/>
            <p:cNvSpPr txBox="true"/>
            <p:nvPr/>
          </p:nvSpPr>
          <p:spPr>
            <a:xfrm>
              <a:off x="0" y="-19050"/>
              <a:ext cx="4816593" cy="1202030"/>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20" id="20"/>
          <p:cNvSpPr txBox="true"/>
          <p:nvPr/>
        </p:nvSpPr>
        <p:spPr>
          <a:xfrm rot="0">
            <a:off x="3558350" y="4197614"/>
            <a:ext cx="11150794" cy="2941624"/>
          </a:xfrm>
          <a:prstGeom prst="rect">
            <a:avLst/>
          </a:prstGeom>
        </p:spPr>
        <p:txBody>
          <a:bodyPr anchor="t" rtlCol="false" tIns="0" lIns="0" bIns="0" rIns="0">
            <a:spAutoFit/>
          </a:bodyPr>
          <a:lstStyle/>
          <a:p>
            <a:pPr algn="l" marL="533062" indent="-266531" lvl="1">
              <a:lnSpc>
                <a:spcPts val="3950"/>
              </a:lnSpc>
              <a:buFont typeface="Arial"/>
              <a:buChar char="•"/>
            </a:pPr>
            <a:r>
              <a:rPr lang="en-US" sz="2469">
                <a:solidFill>
                  <a:srgbClr val="FFFFFF"/>
                </a:solidFill>
                <a:latin typeface="Open Sauce"/>
                <a:ea typeface="Open Sauce"/>
                <a:cs typeface="Open Sauce"/>
                <a:sym typeface="Open Sauce"/>
              </a:rPr>
              <a:t>M</a:t>
            </a:r>
            <a:r>
              <a:rPr lang="en-US" sz="2469">
                <a:solidFill>
                  <a:srgbClr val="FFFFFF"/>
                </a:solidFill>
                <a:latin typeface="Open Sauce"/>
                <a:ea typeface="Open Sauce"/>
                <a:cs typeface="Open Sauce"/>
                <a:sym typeface="Open Sauce"/>
              </a:rPr>
              <a:t>oderniser la communication institutionnelle de l’ARTF</a:t>
            </a:r>
          </a:p>
          <a:p>
            <a:pPr algn="l" marL="533062" indent="-266531" lvl="1">
              <a:lnSpc>
                <a:spcPts val="3950"/>
              </a:lnSpc>
              <a:buFont typeface="Arial"/>
              <a:buChar char="•"/>
            </a:pPr>
            <a:r>
              <a:rPr lang="en-US" sz="2469">
                <a:solidFill>
                  <a:srgbClr val="FFFFFF"/>
                </a:solidFill>
                <a:latin typeface="Open Sauce"/>
                <a:ea typeface="Open Sauce"/>
                <a:cs typeface="Open Sauce"/>
                <a:sym typeface="Open Sauce"/>
              </a:rPr>
              <a:t>Faciliter l’accès du public aux informations officielles</a:t>
            </a:r>
          </a:p>
          <a:p>
            <a:pPr algn="l" marL="533062" indent="-266531" lvl="1">
              <a:lnSpc>
                <a:spcPts val="3950"/>
              </a:lnSpc>
              <a:buFont typeface="Arial"/>
              <a:buChar char="•"/>
            </a:pPr>
            <a:r>
              <a:rPr lang="en-US" sz="2469">
                <a:solidFill>
                  <a:srgbClr val="FFFFFF"/>
                </a:solidFill>
                <a:latin typeface="Open Sauce"/>
                <a:ea typeface="Open Sauce"/>
                <a:cs typeface="Open Sauce"/>
                <a:sym typeface="Open Sauce"/>
              </a:rPr>
              <a:t>Mettre à disposition un portail numérique pour les opérateurs</a:t>
            </a:r>
          </a:p>
          <a:p>
            <a:pPr algn="l" marL="533062" indent="-266531" lvl="1">
              <a:lnSpc>
                <a:spcPts val="3950"/>
              </a:lnSpc>
              <a:buFont typeface="Arial"/>
              <a:buChar char="•"/>
            </a:pPr>
            <a:r>
              <a:rPr lang="en-US" sz="2469">
                <a:solidFill>
                  <a:srgbClr val="FFFFFF"/>
                </a:solidFill>
                <a:latin typeface="Open Sauce"/>
                <a:ea typeface="Open Sauce"/>
                <a:cs typeface="Open Sauce"/>
                <a:sym typeface="Open Sauce"/>
              </a:rPr>
              <a:t>Renforcer la transparence et la traçabilité des procédures administratives</a:t>
            </a:r>
          </a:p>
          <a:p>
            <a:pPr algn="l">
              <a:lnSpc>
                <a:spcPts val="3950"/>
              </a:lnSpc>
            </a:pPr>
          </a:p>
        </p:txBody>
      </p:sp>
      <p:sp>
        <p:nvSpPr>
          <p:cNvPr name="TextBox 21" id="21"/>
          <p:cNvSpPr txBox="true"/>
          <p:nvPr/>
        </p:nvSpPr>
        <p:spPr>
          <a:xfrm rot="0">
            <a:off x="3943510" y="3344198"/>
            <a:ext cx="11381934" cy="803369"/>
          </a:xfrm>
          <a:prstGeom prst="rect">
            <a:avLst/>
          </a:prstGeom>
        </p:spPr>
        <p:txBody>
          <a:bodyPr anchor="t" rtlCol="false" tIns="0" lIns="0" bIns="0" rIns="0">
            <a:spAutoFit/>
          </a:bodyPr>
          <a:lstStyle/>
          <a:p>
            <a:pPr algn="l" marL="0" indent="0" lvl="0">
              <a:lnSpc>
                <a:spcPts val="6644"/>
              </a:lnSpc>
              <a:spcBef>
                <a:spcPct val="0"/>
              </a:spcBef>
            </a:pPr>
            <a:r>
              <a:rPr lang="en-US" b="true" sz="4746" spc="-94">
                <a:solidFill>
                  <a:srgbClr val="FFFFFF"/>
                </a:solidFill>
                <a:latin typeface="Open Sauce Bold"/>
                <a:ea typeface="Open Sauce Bold"/>
                <a:cs typeface="Open Sauce Bold"/>
                <a:sym typeface="Open Sauce Bold"/>
              </a:rPr>
              <a:t>Contexte &amp; Objectifs du projet</a:t>
            </a:r>
          </a:p>
        </p:txBody>
      </p:sp>
      <p:sp>
        <p:nvSpPr>
          <p:cNvPr name="TextBox 22" id="22"/>
          <p:cNvSpPr txBox="true"/>
          <p:nvPr/>
        </p:nvSpPr>
        <p:spPr>
          <a:xfrm rot="0">
            <a:off x="16844616" y="9035942"/>
            <a:ext cx="1140579" cy="734060"/>
          </a:xfrm>
          <a:prstGeom prst="rect">
            <a:avLst/>
          </a:prstGeom>
        </p:spPr>
        <p:txBody>
          <a:bodyPr anchor="t" rtlCol="false" tIns="0" lIns="0" bIns="0" rIns="0">
            <a:spAutoFit/>
          </a:bodyPr>
          <a:lstStyle/>
          <a:p>
            <a:pPr algn="ctr" marL="0" indent="0" lvl="0">
              <a:lnSpc>
                <a:spcPts val="5920"/>
              </a:lnSpc>
              <a:spcBef>
                <a:spcPct val="0"/>
              </a:spcBef>
            </a:pPr>
            <a:r>
              <a:rPr lang="en-US" b="true" sz="4625">
                <a:solidFill>
                  <a:srgbClr val="343432"/>
                </a:solidFill>
                <a:latin typeface="Open Sauce Bold"/>
                <a:ea typeface="Open Sauce Bold"/>
                <a:cs typeface="Open Sauce Bold"/>
                <a:sym typeface="Open Sauce Bold"/>
              </a:rPr>
              <a:t>1</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grpSp>
        <p:nvGrpSpPr>
          <p:cNvPr name="Group 2" id="2"/>
          <p:cNvGrpSpPr/>
          <p:nvPr/>
        </p:nvGrpSpPr>
        <p:grpSpPr>
          <a:xfrm rot="0">
            <a:off x="9832433" y="-339559"/>
            <a:ext cx="8956821" cy="11772679"/>
            <a:chOff x="0" y="0"/>
            <a:chExt cx="2171400" cy="2854048"/>
          </a:xfrm>
        </p:grpSpPr>
        <p:sp>
          <p:nvSpPr>
            <p:cNvPr name="Freeform 3" id="3"/>
            <p:cNvSpPr/>
            <p:nvPr/>
          </p:nvSpPr>
          <p:spPr>
            <a:xfrm flipH="false" flipV="false" rot="0">
              <a:off x="0" y="0"/>
              <a:ext cx="2171400" cy="2854048"/>
            </a:xfrm>
            <a:custGeom>
              <a:avLst/>
              <a:gdLst/>
              <a:ahLst/>
              <a:cxnLst/>
              <a:rect r="r" b="b" t="t" l="l"/>
              <a:pathLst>
                <a:path h="2854048" w="2171400">
                  <a:moveTo>
                    <a:pt x="37167" y="0"/>
                  </a:moveTo>
                  <a:lnTo>
                    <a:pt x="2134233" y="0"/>
                  </a:lnTo>
                  <a:cubicBezTo>
                    <a:pt x="2154760" y="0"/>
                    <a:pt x="2171400" y="16640"/>
                    <a:pt x="2171400" y="37167"/>
                  </a:cubicBezTo>
                  <a:lnTo>
                    <a:pt x="2171400" y="2816880"/>
                  </a:lnTo>
                  <a:cubicBezTo>
                    <a:pt x="2171400" y="2826738"/>
                    <a:pt x="2167484" y="2836192"/>
                    <a:pt x="2160514" y="2843162"/>
                  </a:cubicBezTo>
                  <a:cubicBezTo>
                    <a:pt x="2153544" y="2850132"/>
                    <a:pt x="2144090" y="2854048"/>
                    <a:pt x="2134233" y="2854048"/>
                  </a:cubicBezTo>
                  <a:lnTo>
                    <a:pt x="37167" y="2854048"/>
                  </a:lnTo>
                  <a:cubicBezTo>
                    <a:pt x="27310" y="2854048"/>
                    <a:pt x="17856" y="2850132"/>
                    <a:pt x="10886" y="2843162"/>
                  </a:cubicBezTo>
                  <a:cubicBezTo>
                    <a:pt x="3916" y="2836192"/>
                    <a:pt x="0" y="2826738"/>
                    <a:pt x="0" y="2816880"/>
                  </a:cubicBezTo>
                  <a:lnTo>
                    <a:pt x="0" y="37167"/>
                  </a:lnTo>
                  <a:cubicBezTo>
                    <a:pt x="0" y="27310"/>
                    <a:pt x="3916" y="17856"/>
                    <a:pt x="10886" y="10886"/>
                  </a:cubicBezTo>
                  <a:cubicBezTo>
                    <a:pt x="17856" y="3916"/>
                    <a:pt x="27310" y="0"/>
                    <a:pt x="37167" y="0"/>
                  </a:cubicBezTo>
                  <a:close/>
                </a:path>
              </a:pathLst>
            </a:custGeom>
            <a:solidFill>
              <a:srgbClr val="3F9C39"/>
            </a:solidFill>
            <a:ln cap="rnd">
              <a:noFill/>
              <a:prstDash val="solid"/>
              <a:round/>
            </a:ln>
          </p:spPr>
        </p:sp>
        <p:sp>
          <p:nvSpPr>
            <p:cNvPr name="TextBox 4" id="4"/>
            <p:cNvSpPr txBox="true"/>
            <p:nvPr/>
          </p:nvSpPr>
          <p:spPr>
            <a:xfrm>
              <a:off x="0" y="-19050"/>
              <a:ext cx="2171400" cy="2873098"/>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5" id="5"/>
          <p:cNvGrpSpPr>
            <a:grpSpLocks noChangeAspect="true"/>
          </p:cNvGrpSpPr>
          <p:nvPr/>
        </p:nvGrpSpPr>
        <p:grpSpPr>
          <a:xfrm rot="0">
            <a:off x="9832433" y="-339559"/>
            <a:ext cx="8735127" cy="6811477"/>
            <a:chOff x="0" y="0"/>
            <a:chExt cx="6350000" cy="4951603"/>
          </a:xfrm>
        </p:grpSpPr>
        <p:sp>
          <p:nvSpPr>
            <p:cNvPr name="Freeform 6" id="6"/>
            <p:cNvSpPr/>
            <p:nvPr/>
          </p:nvSpPr>
          <p:spPr>
            <a:xfrm flipH="false" flipV="false" rot="0">
              <a:off x="0" y="0"/>
              <a:ext cx="6349873" cy="4979162"/>
            </a:xfrm>
            <a:custGeom>
              <a:avLst/>
              <a:gdLst/>
              <a:ahLst/>
              <a:cxnLst/>
              <a:rect r="r" b="b" t="t" l="l"/>
              <a:pathLst>
                <a:path h="4979162" w="6349873">
                  <a:moveTo>
                    <a:pt x="292100" y="0"/>
                  </a:moveTo>
                  <a:cubicBezTo>
                    <a:pt x="131445" y="0"/>
                    <a:pt x="0" y="131445"/>
                    <a:pt x="0" y="292100"/>
                  </a:cubicBezTo>
                  <a:lnTo>
                    <a:pt x="0" y="3332480"/>
                  </a:lnTo>
                  <a:cubicBezTo>
                    <a:pt x="0" y="3493135"/>
                    <a:pt x="128397" y="3652520"/>
                    <a:pt x="285369" y="3686683"/>
                  </a:cubicBezTo>
                  <a:lnTo>
                    <a:pt x="6064504" y="4944999"/>
                  </a:lnTo>
                  <a:cubicBezTo>
                    <a:pt x="6221476" y="4979162"/>
                    <a:pt x="6349873" y="4875657"/>
                    <a:pt x="6349873" y="4715002"/>
                  </a:cubicBezTo>
                  <a:lnTo>
                    <a:pt x="6349873" y="292100"/>
                  </a:lnTo>
                  <a:cubicBezTo>
                    <a:pt x="6349873" y="131445"/>
                    <a:pt x="6218428" y="0"/>
                    <a:pt x="6057773" y="0"/>
                  </a:cubicBezTo>
                  <a:lnTo>
                    <a:pt x="292100" y="0"/>
                  </a:lnTo>
                  <a:close/>
                </a:path>
              </a:pathLst>
            </a:custGeom>
            <a:blipFill>
              <a:blip r:embed="rId2"/>
              <a:stretch>
                <a:fillRect l="-25523" t="0" r="-25523" b="0"/>
              </a:stretch>
            </a:blipFill>
          </p:spPr>
        </p:sp>
      </p:grpSp>
      <p:sp>
        <p:nvSpPr>
          <p:cNvPr name="Freeform 7" id="7"/>
          <p:cNvSpPr/>
          <p:nvPr/>
        </p:nvSpPr>
        <p:spPr>
          <a:xfrm flipH="false" flipV="false" rot="0">
            <a:off x="10334905" y="5642237"/>
            <a:ext cx="2264637" cy="1659361"/>
          </a:xfrm>
          <a:custGeom>
            <a:avLst/>
            <a:gdLst/>
            <a:ahLst/>
            <a:cxnLst/>
            <a:rect r="r" b="b" t="t" l="l"/>
            <a:pathLst>
              <a:path h="1659361" w="2264637">
                <a:moveTo>
                  <a:pt x="0" y="0"/>
                </a:moveTo>
                <a:lnTo>
                  <a:pt x="2264637" y="0"/>
                </a:lnTo>
                <a:lnTo>
                  <a:pt x="2264637" y="1659362"/>
                </a:lnTo>
                <a:lnTo>
                  <a:pt x="0" y="1659362"/>
                </a:lnTo>
                <a:lnTo>
                  <a:pt x="0" y="0"/>
                </a:lnTo>
                <a:close/>
              </a:path>
            </a:pathLst>
          </a:custGeom>
          <a:blipFill>
            <a:blip r:embed="rId3">
              <a:alphaModFix amt="15000"/>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295137" y="2684180"/>
            <a:ext cx="8537296" cy="687798"/>
          </a:xfrm>
          <a:prstGeom prst="rect">
            <a:avLst/>
          </a:prstGeom>
        </p:spPr>
        <p:txBody>
          <a:bodyPr anchor="t" rtlCol="false" tIns="0" lIns="0" bIns="0" rIns="0">
            <a:spAutoFit/>
          </a:bodyPr>
          <a:lstStyle/>
          <a:p>
            <a:pPr algn="l" marL="0" indent="0" lvl="0">
              <a:lnSpc>
                <a:spcPts val="5664"/>
              </a:lnSpc>
              <a:spcBef>
                <a:spcPct val="0"/>
              </a:spcBef>
            </a:pPr>
            <a:r>
              <a:rPr lang="en-US" b="true" sz="4046" spc="-80">
                <a:solidFill>
                  <a:srgbClr val="191919"/>
                </a:solidFill>
                <a:latin typeface="Open Sauce Bold"/>
                <a:ea typeface="Open Sauce Bold"/>
                <a:cs typeface="Open Sauce Bold"/>
                <a:sym typeface="Open Sauce Bold"/>
              </a:rPr>
              <a:t>Présentation générale du site web</a:t>
            </a:r>
          </a:p>
        </p:txBody>
      </p:sp>
      <p:sp>
        <p:nvSpPr>
          <p:cNvPr name="TextBox 9" id="9"/>
          <p:cNvSpPr txBox="true"/>
          <p:nvPr/>
        </p:nvSpPr>
        <p:spPr>
          <a:xfrm rot="0">
            <a:off x="1459804" y="1038225"/>
            <a:ext cx="1891773" cy="362193"/>
          </a:xfrm>
          <a:prstGeom prst="rect">
            <a:avLst/>
          </a:prstGeom>
        </p:spPr>
        <p:txBody>
          <a:bodyPr anchor="t" rtlCol="false" tIns="0" lIns="0" bIns="0" rIns="0">
            <a:spAutoFit/>
          </a:bodyPr>
          <a:lstStyle/>
          <a:p>
            <a:pPr algn="l">
              <a:lnSpc>
                <a:spcPts val="2821"/>
              </a:lnSpc>
            </a:pPr>
            <a:r>
              <a:rPr lang="en-US" sz="2453" spc="-49">
                <a:solidFill>
                  <a:srgbClr val="191919"/>
                </a:solidFill>
                <a:latin typeface="Open Sauce"/>
                <a:ea typeface="Open Sauce"/>
                <a:cs typeface="Open Sauce"/>
                <a:sym typeface="Open Sauce"/>
              </a:rPr>
              <a:t>ARTF</a:t>
            </a:r>
          </a:p>
        </p:txBody>
      </p:sp>
      <p:sp>
        <p:nvSpPr>
          <p:cNvPr name="TextBox 10" id="10"/>
          <p:cNvSpPr txBox="true"/>
          <p:nvPr/>
        </p:nvSpPr>
        <p:spPr>
          <a:xfrm rot="0">
            <a:off x="1295137" y="3393723"/>
            <a:ext cx="6274156" cy="5462700"/>
          </a:xfrm>
          <a:prstGeom prst="rect">
            <a:avLst/>
          </a:prstGeom>
        </p:spPr>
        <p:txBody>
          <a:bodyPr anchor="t" rtlCol="false" tIns="0" lIns="0" bIns="0" rIns="0">
            <a:spAutoFit/>
          </a:bodyPr>
          <a:lstStyle/>
          <a:p>
            <a:pPr algn="l" marL="0" indent="0" lvl="0">
              <a:lnSpc>
                <a:spcPts val="3656"/>
              </a:lnSpc>
            </a:pPr>
            <a:r>
              <a:rPr lang="en-US" sz="2453" spc="39">
                <a:solidFill>
                  <a:srgbClr val="191919"/>
                </a:solidFill>
                <a:latin typeface="Open Sauce"/>
                <a:ea typeface="Open Sauce"/>
                <a:cs typeface="Open Sauce"/>
                <a:sym typeface="Open Sauce"/>
              </a:rPr>
              <a:t>Un</a:t>
            </a:r>
            <a:r>
              <a:rPr lang="en-US" sz="2453" spc="39" strike="noStrike" u="none">
                <a:solidFill>
                  <a:srgbClr val="191919"/>
                </a:solidFill>
                <a:latin typeface="Open Sauce"/>
                <a:ea typeface="Open Sauce"/>
                <a:cs typeface="Open Sauce"/>
                <a:sym typeface="Open Sauce"/>
              </a:rPr>
              <a:t>e plateforme moderne, accessible et dynamique</a:t>
            </a:r>
          </a:p>
          <a:p>
            <a:pPr algn="l" marL="0" indent="0" lvl="0">
              <a:lnSpc>
                <a:spcPts val="3656"/>
              </a:lnSpc>
            </a:pPr>
          </a:p>
          <a:p>
            <a:pPr algn="l" marL="529786" indent="-264893" lvl="1">
              <a:lnSpc>
                <a:spcPts val="3656"/>
              </a:lnSpc>
              <a:buFont typeface="Arial"/>
              <a:buChar char="•"/>
            </a:pPr>
            <a:r>
              <a:rPr lang="en-US" sz="2453" spc="39" strike="noStrike" u="none">
                <a:solidFill>
                  <a:srgbClr val="191919"/>
                </a:solidFill>
                <a:latin typeface="Open Sauce"/>
                <a:ea typeface="Open Sauce"/>
                <a:cs typeface="Open Sauce"/>
                <a:sym typeface="Open Sauce"/>
              </a:rPr>
              <a:t>Interface web responsive (ordinateur, tablette, mobile)</a:t>
            </a:r>
          </a:p>
          <a:p>
            <a:pPr algn="l" marL="529786" indent="-264893" lvl="1">
              <a:lnSpc>
                <a:spcPts val="3656"/>
              </a:lnSpc>
              <a:buFont typeface="Arial"/>
              <a:buChar char="•"/>
            </a:pPr>
            <a:r>
              <a:rPr lang="en-US" sz="2453" spc="39" strike="noStrike" u="none">
                <a:solidFill>
                  <a:srgbClr val="191919"/>
                </a:solidFill>
                <a:latin typeface="Open Sauce"/>
                <a:ea typeface="Open Sauce"/>
                <a:cs typeface="Open Sauce"/>
                <a:sym typeface="Open Sauce"/>
              </a:rPr>
              <a:t>Navigation intuitive et rapide</a:t>
            </a:r>
          </a:p>
          <a:p>
            <a:pPr algn="l" marL="529786" indent="-264893" lvl="1">
              <a:lnSpc>
                <a:spcPts val="3656"/>
              </a:lnSpc>
              <a:buFont typeface="Arial"/>
              <a:buChar char="•"/>
            </a:pPr>
            <a:r>
              <a:rPr lang="en-US" sz="2453" spc="39" strike="noStrike" u="none">
                <a:solidFill>
                  <a:srgbClr val="191919"/>
                </a:solidFill>
                <a:latin typeface="Open Sauce"/>
                <a:ea typeface="Open Sauce"/>
                <a:cs typeface="Open Sauce"/>
                <a:sym typeface="Open Sauce"/>
              </a:rPr>
              <a:t>Design institutionnel cohérent avec l’identité de l’ARTF</a:t>
            </a:r>
          </a:p>
          <a:p>
            <a:pPr algn="l" marL="529786" indent="-264893" lvl="1">
              <a:lnSpc>
                <a:spcPts val="3656"/>
              </a:lnSpc>
              <a:buFont typeface="Arial"/>
              <a:buChar char="•"/>
            </a:pPr>
            <a:r>
              <a:rPr lang="en-US" sz="2453" spc="39" strike="noStrike" u="none">
                <a:solidFill>
                  <a:srgbClr val="191919"/>
                </a:solidFill>
                <a:latin typeface="Open Sauce"/>
                <a:ea typeface="Open Sauce"/>
                <a:cs typeface="Open Sauce"/>
                <a:sym typeface="Open Sauce"/>
              </a:rPr>
              <a:t>Sécurisée et conforme aux standards web (HTTPS, RGPD, accessibilité)</a:t>
            </a:r>
          </a:p>
          <a:p>
            <a:pPr algn="l" marL="0" indent="0" lvl="0">
              <a:lnSpc>
                <a:spcPts val="3656"/>
              </a:lnSpc>
            </a:pPr>
          </a:p>
        </p:txBody>
      </p:sp>
      <p:sp>
        <p:nvSpPr>
          <p:cNvPr name="TextBox 11" id="11"/>
          <p:cNvSpPr txBox="true"/>
          <p:nvPr/>
        </p:nvSpPr>
        <p:spPr>
          <a:xfrm rot="0">
            <a:off x="10114059" y="6985183"/>
            <a:ext cx="7502870" cy="2273117"/>
          </a:xfrm>
          <a:prstGeom prst="rect">
            <a:avLst/>
          </a:prstGeom>
        </p:spPr>
        <p:txBody>
          <a:bodyPr anchor="t" rtlCol="false" tIns="0" lIns="0" bIns="0" rIns="0">
            <a:spAutoFit/>
          </a:bodyPr>
          <a:lstStyle/>
          <a:p>
            <a:pPr algn="l">
              <a:lnSpc>
                <a:spcPts val="4604"/>
              </a:lnSpc>
            </a:pPr>
            <a:r>
              <a:rPr lang="en-US" b="true" sz="2502" i="true" spc="25">
                <a:solidFill>
                  <a:srgbClr val="FDFBFB"/>
                </a:solidFill>
                <a:latin typeface="Open Sauce Bold Italics"/>
                <a:ea typeface="Open Sauce Bold Italics"/>
                <a:cs typeface="Open Sauce Bold Italics"/>
                <a:sym typeface="Open Sauce Bold Italics"/>
              </a:rPr>
              <a:t>En se digitalisant, l’Autorité de Régulation du Transport Ferroviaire renforce sa mission de service public : réguler avec transparence, informer avec clarté, et servir avec efficacité.</a:t>
            </a:r>
          </a:p>
        </p:txBody>
      </p:sp>
      <p:sp>
        <p:nvSpPr>
          <p:cNvPr name="TextBox 12" id="12"/>
          <p:cNvSpPr txBox="true"/>
          <p:nvPr/>
        </p:nvSpPr>
        <p:spPr>
          <a:xfrm rot="0">
            <a:off x="17147421" y="9408028"/>
            <a:ext cx="1140579" cy="734060"/>
          </a:xfrm>
          <a:prstGeom prst="rect">
            <a:avLst/>
          </a:prstGeom>
        </p:spPr>
        <p:txBody>
          <a:bodyPr anchor="t" rtlCol="false" tIns="0" lIns="0" bIns="0" rIns="0">
            <a:spAutoFit/>
          </a:bodyPr>
          <a:lstStyle/>
          <a:p>
            <a:pPr algn="ctr" marL="0" indent="0" lvl="0">
              <a:lnSpc>
                <a:spcPts val="5920"/>
              </a:lnSpc>
              <a:spcBef>
                <a:spcPct val="0"/>
              </a:spcBef>
            </a:pPr>
            <a:r>
              <a:rPr lang="en-US" b="true" sz="4625">
                <a:solidFill>
                  <a:srgbClr val="FFFFFF"/>
                </a:solidFill>
                <a:latin typeface="Open Sauce Bold"/>
                <a:ea typeface="Open Sauce Bold"/>
                <a:cs typeface="Open Sauce Bold"/>
                <a:sym typeface="Open Sauce Bold"/>
              </a:rPr>
              <a:t>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661587" y="499427"/>
            <a:ext cx="6064231" cy="5421089"/>
          </a:xfrm>
          <a:prstGeom prst="rect">
            <a:avLst/>
          </a:prstGeom>
        </p:spPr>
        <p:txBody>
          <a:bodyPr anchor="t" rtlCol="false" tIns="0" lIns="0" bIns="0" rIns="0">
            <a:spAutoFit/>
          </a:bodyPr>
          <a:lstStyle/>
          <a:p>
            <a:pPr algn="l" marL="478045" indent="-239022" lvl="1">
              <a:lnSpc>
                <a:spcPts val="3321"/>
              </a:lnSpc>
              <a:buFont typeface="Arial"/>
              <a:buChar char="•"/>
            </a:pPr>
            <a:r>
              <a:rPr lang="en-US" sz="2214">
                <a:solidFill>
                  <a:srgbClr val="343432"/>
                </a:solidFill>
                <a:latin typeface="Open Sauce"/>
                <a:ea typeface="Open Sauce"/>
                <a:cs typeface="Open Sauce"/>
                <a:sym typeface="Open Sauce"/>
              </a:rPr>
              <a:t>Présentation de l’ARTF</a:t>
            </a:r>
          </a:p>
          <a:p>
            <a:pPr algn="l" marL="478045" indent="-239022" lvl="1">
              <a:lnSpc>
                <a:spcPts val="3321"/>
              </a:lnSpc>
              <a:buFont typeface="Arial"/>
              <a:buChar char="•"/>
            </a:pPr>
            <a:r>
              <a:rPr lang="en-US" sz="2214">
                <a:solidFill>
                  <a:srgbClr val="343432"/>
                </a:solidFill>
                <a:latin typeface="Open Sauce"/>
                <a:ea typeface="Open Sauce"/>
                <a:cs typeface="Open Sauce"/>
                <a:sym typeface="Open Sauce"/>
              </a:rPr>
              <a:t>Mission, vision, organigramme</a:t>
            </a:r>
          </a:p>
          <a:p>
            <a:pPr algn="l" marL="478045" indent="-239022" lvl="1">
              <a:lnSpc>
                <a:spcPts val="3321"/>
              </a:lnSpc>
              <a:buFont typeface="Arial"/>
              <a:buChar char="•"/>
            </a:pPr>
            <a:r>
              <a:rPr lang="en-US" sz="2214">
                <a:solidFill>
                  <a:srgbClr val="343432"/>
                </a:solidFill>
                <a:latin typeface="Open Sauce"/>
                <a:ea typeface="Open Sauce"/>
                <a:cs typeface="Open Sauce"/>
                <a:sym typeface="Open Sauce"/>
              </a:rPr>
              <a:t>Activités</a:t>
            </a:r>
          </a:p>
          <a:p>
            <a:pPr algn="l" marL="478045" indent="-239022" lvl="1">
              <a:lnSpc>
                <a:spcPts val="3321"/>
              </a:lnSpc>
              <a:buFont typeface="Arial"/>
              <a:buChar char="•"/>
            </a:pPr>
            <a:r>
              <a:rPr lang="en-US" sz="2214">
                <a:solidFill>
                  <a:srgbClr val="343432"/>
                </a:solidFill>
                <a:latin typeface="Open Sauce"/>
                <a:ea typeface="Open Sauce"/>
                <a:cs typeface="Open Sauce"/>
                <a:sym typeface="Open Sauce"/>
              </a:rPr>
              <a:t>Régulation, contrôle, sécurité ferroviaire</a:t>
            </a:r>
          </a:p>
          <a:p>
            <a:pPr algn="l" marL="478045" indent="-239022" lvl="1">
              <a:lnSpc>
                <a:spcPts val="3321"/>
              </a:lnSpc>
              <a:buFont typeface="Arial"/>
              <a:buChar char="•"/>
            </a:pPr>
            <a:r>
              <a:rPr lang="en-US" sz="2214">
                <a:solidFill>
                  <a:srgbClr val="343432"/>
                </a:solidFill>
                <a:latin typeface="Open Sauce"/>
                <a:ea typeface="Open Sauce"/>
                <a:cs typeface="Open Sauce"/>
                <a:sym typeface="Open Sauce"/>
              </a:rPr>
              <a:t>Actualités</a:t>
            </a:r>
          </a:p>
          <a:p>
            <a:pPr algn="l" marL="478045" indent="-239022" lvl="1">
              <a:lnSpc>
                <a:spcPts val="3321"/>
              </a:lnSpc>
              <a:buFont typeface="Arial"/>
              <a:buChar char="•"/>
            </a:pPr>
            <a:r>
              <a:rPr lang="en-US" sz="2214">
                <a:solidFill>
                  <a:srgbClr val="343432"/>
                </a:solidFill>
                <a:latin typeface="Open Sauce"/>
                <a:ea typeface="Open Sauce"/>
                <a:cs typeface="Open Sauce"/>
                <a:sym typeface="Open Sauce"/>
              </a:rPr>
              <a:t>Communiqués, publications, évènements</a:t>
            </a:r>
          </a:p>
          <a:p>
            <a:pPr algn="l" marL="478045" indent="-239022" lvl="1">
              <a:lnSpc>
                <a:spcPts val="3321"/>
              </a:lnSpc>
              <a:buFont typeface="Arial"/>
              <a:buChar char="•"/>
            </a:pPr>
            <a:r>
              <a:rPr lang="en-US" sz="2214">
                <a:solidFill>
                  <a:srgbClr val="343432"/>
                </a:solidFill>
                <a:latin typeface="Open Sauce"/>
                <a:ea typeface="Open Sauce"/>
                <a:cs typeface="Open Sauce"/>
                <a:sym typeface="Open Sauce"/>
              </a:rPr>
              <a:t>Services en ligne</a:t>
            </a:r>
          </a:p>
          <a:p>
            <a:pPr algn="l" marL="478045" indent="-239022" lvl="1">
              <a:lnSpc>
                <a:spcPts val="3321"/>
              </a:lnSpc>
              <a:buFont typeface="Arial"/>
              <a:buChar char="•"/>
            </a:pPr>
            <a:r>
              <a:rPr lang="en-US" sz="2214">
                <a:solidFill>
                  <a:srgbClr val="343432"/>
                </a:solidFill>
                <a:latin typeface="Open Sauce"/>
                <a:ea typeface="Open Sauce"/>
                <a:cs typeface="Open Sauce"/>
                <a:sym typeface="Open Sauce"/>
              </a:rPr>
              <a:t>Portail des opérateurs ferroviaires</a:t>
            </a:r>
          </a:p>
          <a:p>
            <a:pPr algn="l" marL="478045" indent="-239022" lvl="1">
              <a:lnSpc>
                <a:spcPts val="3321"/>
              </a:lnSpc>
              <a:buFont typeface="Arial"/>
              <a:buChar char="•"/>
            </a:pPr>
            <a:r>
              <a:rPr lang="en-US" sz="2214">
                <a:solidFill>
                  <a:srgbClr val="343432"/>
                </a:solidFill>
                <a:latin typeface="Open Sauce"/>
                <a:ea typeface="Open Sauce"/>
                <a:cs typeface="Open Sauce"/>
                <a:sym typeface="Open Sauce"/>
              </a:rPr>
              <a:t>Lois et règlements</a:t>
            </a:r>
          </a:p>
          <a:p>
            <a:pPr algn="l" marL="478045" indent="-239022" lvl="1">
              <a:lnSpc>
                <a:spcPts val="3321"/>
              </a:lnSpc>
              <a:buFont typeface="Arial"/>
              <a:buChar char="•"/>
            </a:pPr>
            <a:r>
              <a:rPr lang="en-US" sz="2214">
                <a:solidFill>
                  <a:srgbClr val="343432"/>
                </a:solidFill>
                <a:latin typeface="Open Sauce"/>
                <a:ea typeface="Open Sauce"/>
                <a:cs typeface="Open Sauce"/>
                <a:sym typeface="Open Sauce"/>
              </a:rPr>
              <a:t>Textes juridiques, arrêtés, décrets</a:t>
            </a:r>
          </a:p>
          <a:p>
            <a:pPr algn="l" marL="478045" indent="-239022" lvl="1">
              <a:lnSpc>
                <a:spcPts val="3321"/>
              </a:lnSpc>
              <a:buFont typeface="Arial"/>
              <a:buChar char="•"/>
            </a:pPr>
            <a:r>
              <a:rPr lang="en-US" sz="2214">
                <a:solidFill>
                  <a:srgbClr val="343432"/>
                </a:solidFill>
                <a:latin typeface="Open Sauce"/>
                <a:ea typeface="Open Sauce"/>
                <a:cs typeface="Open Sauce"/>
                <a:sym typeface="Open Sauce"/>
              </a:rPr>
              <a:t>Contact</a:t>
            </a:r>
          </a:p>
          <a:p>
            <a:pPr algn="l" marL="0" indent="0" lvl="0">
              <a:lnSpc>
                <a:spcPts val="3321"/>
              </a:lnSpc>
            </a:pPr>
          </a:p>
        </p:txBody>
      </p:sp>
      <p:grpSp>
        <p:nvGrpSpPr>
          <p:cNvPr name="Group 3" id="3"/>
          <p:cNvGrpSpPr/>
          <p:nvPr/>
        </p:nvGrpSpPr>
        <p:grpSpPr>
          <a:xfrm rot="0">
            <a:off x="-1997137" y="7075637"/>
            <a:ext cx="5578401" cy="557840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9C39"/>
            </a:solidFill>
            <a:ln w="742950" cap="sq">
              <a:solidFill>
                <a:srgbClr val="AEEA00"/>
              </a:soli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6" id="6"/>
          <p:cNvGrpSpPr/>
          <p:nvPr/>
        </p:nvGrpSpPr>
        <p:grpSpPr>
          <a:xfrm rot="0">
            <a:off x="3684175" y="7005833"/>
            <a:ext cx="452472" cy="45247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EEA00"/>
            </a:solidFill>
            <a:ln w="742950" cap="sq">
              <a:solidFill>
                <a:srgbClr val="106861"/>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9" id="9"/>
          <p:cNvGrpSpPr/>
          <p:nvPr/>
        </p:nvGrpSpPr>
        <p:grpSpPr>
          <a:xfrm rot="0">
            <a:off x="15017929" y="-2533783"/>
            <a:ext cx="5002094" cy="500209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9C39">
                <a:alpha val="32941"/>
              </a:srgbClr>
            </a:solidFill>
            <a:ln w="742950" cap="sq">
              <a:solidFill>
                <a:srgbClr val="3F9C39">
                  <a:alpha val="32941"/>
                </a:srgbClr>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2" id="12"/>
          <p:cNvSpPr/>
          <p:nvPr/>
        </p:nvSpPr>
        <p:spPr>
          <a:xfrm flipH="false" flipV="false" rot="0">
            <a:off x="4809335" y="790496"/>
            <a:ext cx="943649" cy="943649"/>
          </a:xfrm>
          <a:custGeom>
            <a:avLst/>
            <a:gdLst/>
            <a:ahLst/>
            <a:cxnLst/>
            <a:rect r="r" b="b" t="t" l="l"/>
            <a:pathLst>
              <a:path h="943649" w="943649">
                <a:moveTo>
                  <a:pt x="0" y="0"/>
                </a:moveTo>
                <a:lnTo>
                  <a:pt x="943649" y="0"/>
                </a:lnTo>
                <a:lnTo>
                  <a:pt x="943649" y="943649"/>
                </a:lnTo>
                <a:lnTo>
                  <a:pt x="0" y="9436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3" id="13"/>
          <p:cNvSpPr/>
          <p:nvPr/>
        </p:nvSpPr>
        <p:spPr>
          <a:xfrm flipH="false" flipV="false" rot="0">
            <a:off x="4253733" y="5306345"/>
            <a:ext cx="841683" cy="852533"/>
          </a:xfrm>
          <a:custGeom>
            <a:avLst/>
            <a:gdLst/>
            <a:ahLst/>
            <a:cxnLst/>
            <a:rect r="r" b="b" t="t" l="l"/>
            <a:pathLst>
              <a:path h="852533" w="841683">
                <a:moveTo>
                  <a:pt x="0" y="0"/>
                </a:moveTo>
                <a:lnTo>
                  <a:pt x="841683" y="0"/>
                </a:lnTo>
                <a:lnTo>
                  <a:pt x="841683" y="852533"/>
                </a:lnTo>
                <a:lnTo>
                  <a:pt x="0" y="8525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4" id="14"/>
          <p:cNvSpPr/>
          <p:nvPr/>
        </p:nvSpPr>
        <p:spPr>
          <a:xfrm flipH="false" flipV="false" rot="0">
            <a:off x="2156305" y="5143500"/>
            <a:ext cx="841683" cy="841683"/>
          </a:xfrm>
          <a:custGeom>
            <a:avLst/>
            <a:gdLst/>
            <a:ahLst/>
            <a:cxnLst/>
            <a:rect r="r" b="b" t="t" l="l"/>
            <a:pathLst>
              <a:path h="841683" w="841683">
                <a:moveTo>
                  <a:pt x="0" y="0"/>
                </a:moveTo>
                <a:lnTo>
                  <a:pt x="841683" y="0"/>
                </a:lnTo>
                <a:lnTo>
                  <a:pt x="841683" y="841683"/>
                </a:lnTo>
                <a:lnTo>
                  <a:pt x="0" y="8416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grpSp>
        <p:nvGrpSpPr>
          <p:cNvPr name="Group 15" id="15"/>
          <p:cNvGrpSpPr/>
          <p:nvPr/>
        </p:nvGrpSpPr>
        <p:grpSpPr>
          <a:xfrm rot="0">
            <a:off x="4809335" y="8388753"/>
            <a:ext cx="1183417" cy="118341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EEA00"/>
            </a:solidFill>
            <a:ln w="742950" cap="sq">
              <a:solidFill>
                <a:srgbClr val="3F9C39"/>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8" id="18"/>
          <p:cNvSpPr/>
          <p:nvPr/>
        </p:nvSpPr>
        <p:spPr>
          <a:xfrm flipH="false" flipV="false" rot="0">
            <a:off x="4136647" y="6358503"/>
            <a:ext cx="13977055" cy="873566"/>
          </a:xfrm>
          <a:custGeom>
            <a:avLst/>
            <a:gdLst/>
            <a:ahLst/>
            <a:cxnLst/>
            <a:rect r="r" b="b" t="t" l="l"/>
            <a:pathLst>
              <a:path h="873566" w="13977055">
                <a:moveTo>
                  <a:pt x="0" y="0"/>
                </a:moveTo>
                <a:lnTo>
                  <a:pt x="13977055" y="0"/>
                </a:lnTo>
                <a:lnTo>
                  <a:pt x="13977055" y="873566"/>
                </a:lnTo>
                <a:lnTo>
                  <a:pt x="0" y="873566"/>
                </a:lnTo>
                <a:lnTo>
                  <a:pt x="0" y="0"/>
                </a:lnTo>
                <a:close/>
              </a:path>
            </a:pathLst>
          </a:custGeom>
          <a:blipFill>
            <a:blip r:embed="rId8"/>
            <a:stretch>
              <a:fillRect l="0" t="0" r="0" b="0"/>
            </a:stretch>
          </a:blipFill>
        </p:spPr>
      </p:sp>
      <p:sp>
        <p:nvSpPr>
          <p:cNvPr name="TextBox 19" id="19"/>
          <p:cNvSpPr txBox="true"/>
          <p:nvPr/>
        </p:nvSpPr>
        <p:spPr>
          <a:xfrm rot="0">
            <a:off x="1507699" y="3101654"/>
            <a:ext cx="6333751" cy="1692249"/>
          </a:xfrm>
          <a:prstGeom prst="rect">
            <a:avLst/>
          </a:prstGeom>
        </p:spPr>
        <p:txBody>
          <a:bodyPr anchor="t" rtlCol="false" tIns="0" lIns="0" bIns="0" rIns="0">
            <a:spAutoFit/>
          </a:bodyPr>
          <a:lstStyle/>
          <a:p>
            <a:pPr algn="l">
              <a:lnSpc>
                <a:spcPts val="6861"/>
              </a:lnSpc>
            </a:pPr>
            <a:r>
              <a:rPr lang="en-US" sz="4900" spc="-98" b="true">
                <a:solidFill>
                  <a:srgbClr val="191919"/>
                </a:solidFill>
                <a:latin typeface="Open Sauce Bold"/>
                <a:ea typeface="Open Sauce Bold"/>
                <a:cs typeface="Open Sauce Bold"/>
                <a:sym typeface="Open Sauce Bold"/>
              </a:rPr>
              <a:t> Architecture du site:</a:t>
            </a:r>
          </a:p>
          <a:p>
            <a:pPr algn="l" marL="0" indent="0" lvl="0">
              <a:lnSpc>
                <a:spcPts val="6861"/>
              </a:lnSpc>
              <a:spcBef>
                <a:spcPct val="0"/>
              </a:spcBef>
            </a:pPr>
          </a:p>
        </p:txBody>
      </p:sp>
      <p:sp>
        <p:nvSpPr>
          <p:cNvPr name="TextBox 20" id="20"/>
          <p:cNvSpPr txBox="true"/>
          <p:nvPr/>
        </p:nvSpPr>
        <p:spPr>
          <a:xfrm rot="0">
            <a:off x="16844616" y="9035942"/>
            <a:ext cx="1140579" cy="734060"/>
          </a:xfrm>
          <a:prstGeom prst="rect">
            <a:avLst/>
          </a:prstGeom>
        </p:spPr>
        <p:txBody>
          <a:bodyPr anchor="t" rtlCol="false" tIns="0" lIns="0" bIns="0" rIns="0">
            <a:spAutoFit/>
          </a:bodyPr>
          <a:lstStyle/>
          <a:p>
            <a:pPr algn="ctr" marL="0" indent="0" lvl="0">
              <a:lnSpc>
                <a:spcPts val="5920"/>
              </a:lnSpc>
              <a:spcBef>
                <a:spcPct val="0"/>
              </a:spcBef>
            </a:pPr>
            <a:r>
              <a:rPr lang="en-US" b="true" sz="4625">
                <a:solidFill>
                  <a:srgbClr val="343432"/>
                </a:solidFill>
                <a:latin typeface="Open Sauce Bold"/>
                <a:ea typeface="Open Sauce Bold"/>
                <a:cs typeface="Open Sauce Bold"/>
                <a:sym typeface="Open Sauce Bold"/>
              </a:rPr>
              <a:t>3</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grpSp>
        <p:nvGrpSpPr>
          <p:cNvPr name="Group 2" id="2"/>
          <p:cNvGrpSpPr/>
          <p:nvPr/>
        </p:nvGrpSpPr>
        <p:grpSpPr>
          <a:xfrm rot="-10800000">
            <a:off x="2049727" y="4347082"/>
            <a:ext cx="3128394" cy="3751948"/>
            <a:chOff x="0" y="0"/>
            <a:chExt cx="2041606" cy="2448541"/>
          </a:xfrm>
        </p:grpSpPr>
        <p:sp>
          <p:nvSpPr>
            <p:cNvPr name="Freeform 3" id="3"/>
            <p:cNvSpPr/>
            <p:nvPr/>
          </p:nvSpPr>
          <p:spPr>
            <a:xfrm flipH="false" flipV="false" rot="0">
              <a:off x="0" y="0"/>
              <a:ext cx="2041606" cy="2448541"/>
            </a:xfrm>
            <a:custGeom>
              <a:avLst/>
              <a:gdLst/>
              <a:ahLst/>
              <a:cxnLst/>
              <a:rect r="r" b="b" t="t" l="l"/>
              <a:pathLst>
                <a:path h="2448541" w="2041606">
                  <a:moveTo>
                    <a:pt x="79191" y="0"/>
                  </a:moveTo>
                  <a:lnTo>
                    <a:pt x="1962415" y="0"/>
                  </a:lnTo>
                  <a:cubicBezTo>
                    <a:pt x="2006151" y="0"/>
                    <a:pt x="2041606" y="35455"/>
                    <a:pt x="2041606" y="79191"/>
                  </a:cubicBezTo>
                  <a:lnTo>
                    <a:pt x="2041606" y="2369350"/>
                  </a:lnTo>
                  <a:cubicBezTo>
                    <a:pt x="2041606" y="2390353"/>
                    <a:pt x="2033263" y="2410495"/>
                    <a:pt x="2018411" y="2425347"/>
                  </a:cubicBezTo>
                  <a:cubicBezTo>
                    <a:pt x="2003560" y="2440198"/>
                    <a:pt x="1983418" y="2448541"/>
                    <a:pt x="1962415" y="2448541"/>
                  </a:cubicBezTo>
                  <a:lnTo>
                    <a:pt x="79191" y="2448541"/>
                  </a:lnTo>
                  <a:cubicBezTo>
                    <a:pt x="58188" y="2448541"/>
                    <a:pt x="38046" y="2440198"/>
                    <a:pt x="23195" y="2425347"/>
                  </a:cubicBezTo>
                  <a:cubicBezTo>
                    <a:pt x="8343" y="2410495"/>
                    <a:pt x="0" y="2390353"/>
                    <a:pt x="0" y="2369350"/>
                  </a:cubicBezTo>
                  <a:lnTo>
                    <a:pt x="0" y="79191"/>
                  </a:lnTo>
                  <a:cubicBezTo>
                    <a:pt x="0" y="58188"/>
                    <a:pt x="8343" y="38046"/>
                    <a:pt x="23195" y="23195"/>
                  </a:cubicBezTo>
                  <a:cubicBezTo>
                    <a:pt x="38046" y="8343"/>
                    <a:pt x="58188" y="0"/>
                    <a:pt x="79191" y="0"/>
                  </a:cubicBezTo>
                  <a:close/>
                </a:path>
              </a:pathLst>
            </a:custGeom>
            <a:solidFill>
              <a:srgbClr val="FFFFFF"/>
            </a:solidFill>
            <a:ln w="123825" cap="rnd">
              <a:solidFill>
                <a:srgbClr val="106861"/>
              </a:solidFill>
              <a:prstDash val="solid"/>
              <a:round/>
            </a:ln>
          </p:spPr>
        </p:sp>
        <p:sp>
          <p:nvSpPr>
            <p:cNvPr name="TextBox 4" id="4"/>
            <p:cNvSpPr txBox="true"/>
            <p:nvPr/>
          </p:nvSpPr>
          <p:spPr>
            <a:xfrm>
              <a:off x="0" y="-38100"/>
              <a:ext cx="2041606" cy="2486641"/>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5" id="5"/>
          <p:cNvSpPr/>
          <p:nvPr/>
        </p:nvSpPr>
        <p:spPr>
          <a:xfrm flipH="false" flipV="false" rot="0">
            <a:off x="2540734" y="4347082"/>
            <a:ext cx="2146380" cy="1000429"/>
          </a:xfrm>
          <a:custGeom>
            <a:avLst/>
            <a:gdLst/>
            <a:ahLst/>
            <a:cxnLst/>
            <a:rect r="r" b="b" t="t" l="l"/>
            <a:pathLst>
              <a:path h="1000429" w="2146380">
                <a:moveTo>
                  <a:pt x="0" y="0"/>
                </a:moveTo>
                <a:lnTo>
                  <a:pt x="2146380" y="0"/>
                </a:lnTo>
                <a:lnTo>
                  <a:pt x="2146380" y="1000429"/>
                </a:lnTo>
                <a:lnTo>
                  <a:pt x="0" y="1000429"/>
                </a:lnTo>
                <a:lnTo>
                  <a:pt x="0" y="0"/>
                </a:lnTo>
                <a:close/>
              </a:path>
            </a:pathLst>
          </a:custGeom>
          <a:blipFill>
            <a:blip r:embed="rId2">
              <a:extLst>
                <a:ext uri="{96DAC541-7B7A-43D3-8B79-37D633B846F1}">
                  <asvg:svgBlip xmlns:asvg="http://schemas.microsoft.com/office/drawing/2016/SVG/main" r:embed="rId3"/>
                </a:ext>
              </a:extLst>
            </a:blip>
            <a:stretch>
              <a:fillRect l="0" t="-114545" r="0" b="0"/>
            </a:stretch>
          </a:blipFill>
          <a:ln cap="sq">
            <a:noFill/>
            <a:prstDash val="solid"/>
            <a:miter/>
          </a:ln>
        </p:spPr>
      </p:sp>
      <p:grpSp>
        <p:nvGrpSpPr>
          <p:cNvPr name="Group 6" id="6"/>
          <p:cNvGrpSpPr/>
          <p:nvPr/>
        </p:nvGrpSpPr>
        <p:grpSpPr>
          <a:xfrm rot="-10800000">
            <a:off x="5561122" y="4347082"/>
            <a:ext cx="3128394" cy="3751948"/>
            <a:chOff x="0" y="0"/>
            <a:chExt cx="2041606" cy="2448541"/>
          </a:xfrm>
        </p:grpSpPr>
        <p:sp>
          <p:nvSpPr>
            <p:cNvPr name="Freeform 7" id="7"/>
            <p:cNvSpPr/>
            <p:nvPr/>
          </p:nvSpPr>
          <p:spPr>
            <a:xfrm flipH="false" flipV="false" rot="0">
              <a:off x="0" y="0"/>
              <a:ext cx="2041606" cy="2448541"/>
            </a:xfrm>
            <a:custGeom>
              <a:avLst/>
              <a:gdLst/>
              <a:ahLst/>
              <a:cxnLst/>
              <a:rect r="r" b="b" t="t" l="l"/>
              <a:pathLst>
                <a:path h="2448541" w="2041606">
                  <a:moveTo>
                    <a:pt x="79191" y="0"/>
                  </a:moveTo>
                  <a:lnTo>
                    <a:pt x="1962415" y="0"/>
                  </a:lnTo>
                  <a:cubicBezTo>
                    <a:pt x="2006151" y="0"/>
                    <a:pt x="2041606" y="35455"/>
                    <a:pt x="2041606" y="79191"/>
                  </a:cubicBezTo>
                  <a:lnTo>
                    <a:pt x="2041606" y="2369350"/>
                  </a:lnTo>
                  <a:cubicBezTo>
                    <a:pt x="2041606" y="2390353"/>
                    <a:pt x="2033263" y="2410495"/>
                    <a:pt x="2018411" y="2425347"/>
                  </a:cubicBezTo>
                  <a:cubicBezTo>
                    <a:pt x="2003560" y="2440198"/>
                    <a:pt x="1983418" y="2448541"/>
                    <a:pt x="1962415" y="2448541"/>
                  </a:cubicBezTo>
                  <a:lnTo>
                    <a:pt x="79191" y="2448541"/>
                  </a:lnTo>
                  <a:cubicBezTo>
                    <a:pt x="58188" y="2448541"/>
                    <a:pt x="38046" y="2440198"/>
                    <a:pt x="23195" y="2425347"/>
                  </a:cubicBezTo>
                  <a:cubicBezTo>
                    <a:pt x="8343" y="2410495"/>
                    <a:pt x="0" y="2390353"/>
                    <a:pt x="0" y="2369350"/>
                  </a:cubicBezTo>
                  <a:lnTo>
                    <a:pt x="0" y="79191"/>
                  </a:lnTo>
                  <a:cubicBezTo>
                    <a:pt x="0" y="58188"/>
                    <a:pt x="8343" y="38046"/>
                    <a:pt x="23195" y="23195"/>
                  </a:cubicBezTo>
                  <a:cubicBezTo>
                    <a:pt x="38046" y="8343"/>
                    <a:pt x="58188" y="0"/>
                    <a:pt x="79191" y="0"/>
                  </a:cubicBezTo>
                  <a:close/>
                </a:path>
              </a:pathLst>
            </a:custGeom>
            <a:solidFill>
              <a:srgbClr val="FFFFFF"/>
            </a:solidFill>
            <a:ln w="123825" cap="rnd">
              <a:solidFill>
                <a:srgbClr val="106861"/>
              </a:solidFill>
              <a:prstDash val="solid"/>
              <a:round/>
            </a:ln>
          </p:spPr>
        </p:sp>
        <p:sp>
          <p:nvSpPr>
            <p:cNvPr name="TextBox 8" id="8"/>
            <p:cNvSpPr txBox="true"/>
            <p:nvPr/>
          </p:nvSpPr>
          <p:spPr>
            <a:xfrm>
              <a:off x="0" y="-38100"/>
              <a:ext cx="2041606" cy="2486641"/>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9" id="9"/>
          <p:cNvSpPr/>
          <p:nvPr/>
        </p:nvSpPr>
        <p:spPr>
          <a:xfrm flipH="false" flipV="false" rot="0">
            <a:off x="6052129" y="4347082"/>
            <a:ext cx="2146380" cy="1000429"/>
          </a:xfrm>
          <a:custGeom>
            <a:avLst/>
            <a:gdLst/>
            <a:ahLst/>
            <a:cxnLst/>
            <a:rect r="r" b="b" t="t" l="l"/>
            <a:pathLst>
              <a:path h="1000429" w="2146380">
                <a:moveTo>
                  <a:pt x="0" y="0"/>
                </a:moveTo>
                <a:lnTo>
                  <a:pt x="2146380" y="0"/>
                </a:lnTo>
                <a:lnTo>
                  <a:pt x="2146380" y="1000429"/>
                </a:lnTo>
                <a:lnTo>
                  <a:pt x="0" y="1000429"/>
                </a:lnTo>
                <a:lnTo>
                  <a:pt x="0" y="0"/>
                </a:lnTo>
                <a:close/>
              </a:path>
            </a:pathLst>
          </a:custGeom>
          <a:blipFill>
            <a:blip r:embed="rId2">
              <a:extLst>
                <a:ext uri="{96DAC541-7B7A-43D3-8B79-37D633B846F1}">
                  <asvg:svgBlip xmlns:asvg="http://schemas.microsoft.com/office/drawing/2016/SVG/main" r:embed="rId3"/>
                </a:ext>
              </a:extLst>
            </a:blip>
            <a:stretch>
              <a:fillRect l="0" t="-114545" r="0" b="0"/>
            </a:stretch>
          </a:blipFill>
          <a:ln cap="sq">
            <a:noFill/>
            <a:prstDash val="solid"/>
            <a:miter/>
          </a:ln>
        </p:spPr>
      </p:sp>
      <p:grpSp>
        <p:nvGrpSpPr>
          <p:cNvPr name="Group 10" id="10"/>
          <p:cNvGrpSpPr/>
          <p:nvPr/>
        </p:nvGrpSpPr>
        <p:grpSpPr>
          <a:xfrm rot="-10800000">
            <a:off x="9070516" y="4347082"/>
            <a:ext cx="3128394" cy="3751948"/>
            <a:chOff x="0" y="0"/>
            <a:chExt cx="2041606" cy="2448541"/>
          </a:xfrm>
        </p:grpSpPr>
        <p:sp>
          <p:nvSpPr>
            <p:cNvPr name="Freeform 11" id="11"/>
            <p:cNvSpPr/>
            <p:nvPr/>
          </p:nvSpPr>
          <p:spPr>
            <a:xfrm flipH="false" flipV="false" rot="0">
              <a:off x="0" y="0"/>
              <a:ext cx="2041606" cy="2448541"/>
            </a:xfrm>
            <a:custGeom>
              <a:avLst/>
              <a:gdLst/>
              <a:ahLst/>
              <a:cxnLst/>
              <a:rect r="r" b="b" t="t" l="l"/>
              <a:pathLst>
                <a:path h="2448541" w="2041606">
                  <a:moveTo>
                    <a:pt x="79191" y="0"/>
                  </a:moveTo>
                  <a:lnTo>
                    <a:pt x="1962415" y="0"/>
                  </a:lnTo>
                  <a:cubicBezTo>
                    <a:pt x="2006151" y="0"/>
                    <a:pt x="2041606" y="35455"/>
                    <a:pt x="2041606" y="79191"/>
                  </a:cubicBezTo>
                  <a:lnTo>
                    <a:pt x="2041606" y="2369350"/>
                  </a:lnTo>
                  <a:cubicBezTo>
                    <a:pt x="2041606" y="2390353"/>
                    <a:pt x="2033263" y="2410495"/>
                    <a:pt x="2018411" y="2425347"/>
                  </a:cubicBezTo>
                  <a:cubicBezTo>
                    <a:pt x="2003560" y="2440198"/>
                    <a:pt x="1983418" y="2448541"/>
                    <a:pt x="1962415" y="2448541"/>
                  </a:cubicBezTo>
                  <a:lnTo>
                    <a:pt x="79191" y="2448541"/>
                  </a:lnTo>
                  <a:cubicBezTo>
                    <a:pt x="58188" y="2448541"/>
                    <a:pt x="38046" y="2440198"/>
                    <a:pt x="23195" y="2425347"/>
                  </a:cubicBezTo>
                  <a:cubicBezTo>
                    <a:pt x="8343" y="2410495"/>
                    <a:pt x="0" y="2390353"/>
                    <a:pt x="0" y="2369350"/>
                  </a:cubicBezTo>
                  <a:lnTo>
                    <a:pt x="0" y="79191"/>
                  </a:lnTo>
                  <a:cubicBezTo>
                    <a:pt x="0" y="58188"/>
                    <a:pt x="8343" y="38046"/>
                    <a:pt x="23195" y="23195"/>
                  </a:cubicBezTo>
                  <a:cubicBezTo>
                    <a:pt x="38046" y="8343"/>
                    <a:pt x="58188" y="0"/>
                    <a:pt x="79191" y="0"/>
                  </a:cubicBezTo>
                  <a:close/>
                </a:path>
              </a:pathLst>
            </a:custGeom>
            <a:solidFill>
              <a:srgbClr val="FFFFFF"/>
            </a:solidFill>
            <a:ln w="123825" cap="rnd">
              <a:solidFill>
                <a:srgbClr val="106861"/>
              </a:solidFill>
              <a:prstDash val="solid"/>
              <a:round/>
            </a:ln>
          </p:spPr>
        </p:sp>
        <p:sp>
          <p:nvSpPr>
            <p:cNvPr name="TextBox 12" id="12"/>
            <p:cNvSpPr txBox="true"/>
            <p:nvPr/>
          </p:nvSpPr>
          <p:spPr>
            <a:xfrm>
              <a:off x="0" y="-38100"/>
              <a:ext cx="2041606" cy="2486641"/>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3" id="13"/>
          <p:cNvSpPr/>
          <p:nvPr/>
        </p:nvSpPr>
        <p:spPr>
          <a:xfrm flipH="false" flipV="false" rot="0">
            <a:off x="9561522" y="4347082"/>
            <a:ext cx="2146380" cy="1000429"/>
          </a:xfrm>
          <a:custGeom>
            <a:avLst/>
            <a:gdLst/>
            <a:ahLst/>
            <a:cxnLst/>
            <a:rect r="r" b="b" t="t" l="l"/>
            <a:pathLst>
              <a:path h="1000429" w="2146380">
                <a:moveTo>
                  <a:pt x="0" y="0"/>
                </a:moveTo>
                <a:lnTo>
                  <a:pt x="2146380" y="0"/>
                </a:lnTo>
                <a:lnTo>
                  <a:pt x="2146380" y="1000429"/>
                </a:lnTo>
                <a:lnTo>
                  <a:pt x="0" y="1000429"/>
                </a:lnTo>
                <a:lnTo>
                  <a:pt x="0" y="0"/>
                </a:lnTo>
                <a:close/>
              </a:path>
            </a:pathLst>
          </a:custGeom>
          <a:blipFill>
            <a:blip r:embed="rId2">
              <a:extLst>
                <a:ext uri="{96DAC541-7B7A-43D3-8B79-37D633B846F1}">
                  <asvg:svgBlip xmlns:asvg="http://schemas.microsoft.com/office/drawing/2016/SVG/main" r:embed="rId3"/>
                </a:ext>
              </a:extLst>
            </a:blip>
            <a:stretch>
              <a:fillRect l="0" t="-114545" r="0" b="0"/>
            </a:stretch>
          </a:blipFill>
          <a:ln cap="sq">
            <a:noFill/>
            <a:prstDash val="solid"/>
            <a:miter/>
          </a:ln>
        </p:spPr>
      </p:sp>
      <p:sp>
        <p:nvSpPr>
          <p:cNvPr name="Freeform 14" id="14"/>
          <p:cNvSpPr/>
          <p:nvPr/>
        </p:nvSpPr>
        <p:spPr>
          <a:xfrm flipH="false" flipV="false" rot="0">
            <a:off x="6748522" y="5423143"/>
            <a:ext cx="763553" cy="799913"/>
          </a:xfrm>
          <a:custGeom>
            <a:avLst/>
            <a:gdLst/>
            <a:ahLst/>
            <a:cxnLst/>
            <a:rect r="r" b="b" t="t" l="l"/>
            <a:pathLst>
              <a:path h="799913" w="763553">
                <a:moveTo>
                  <a:pt x="0" y="0"/>
                </a:moveTo>
                <a:lnTo>
                  <a:pt x="763553" y="0"/>
                </a:lnTo>
                <a:lnTo>
                  <a:pt x="763553" y="799913"/>
                </a:lnTo>
                <a:lnTo>
                  <a:pt x="0" y="7999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15" id="15"/>
          <p:cNvSpPr txBox="true"/>
          <p:nvPr/>
        </p:nvSpPr>
        <p:spPr>
          <a:xfrm rot="0">
            <a:off x="2095642" y="2054763"/>
            <a:ext cx="7362789" cy="866067"/>
          </a:xfrm>
          <a:prstGeom prst="rect">
            <a:avLst/>
          </a:prstGeom>
        </p:spPr>
        <p:txBody>
          <a:bodyPr anchor="t" rtlCol="false" tIns="0" lIns="0" bIns="0" rIns="0">
            <a:spAutoFit/>
          </a:bodyPr>
          <a:lstStyle/>
          <a:p>
            <a:pPr algn="l">
              <a:lnSpc>
                <a:spcPts val="7178"/>
              </a:lnSpc>
            </a:pPr>
            <a:r>
              <a:rPr lang="en-US" sz="5127" spc="-102" b="true">
                <a:solidFill>
                  <a:srgbClr val="191919"/>
                </a:solidFill>
                <a:latin typeface="Open Sauce Bold"/>
                <a:ea typeface="Open Sauce Bold"/>
                <a:cs typeface="Open Sauce Bold"/>
                <a:sym typeface="Open Sauce Bold"/>
              </a:rPr>
              <a:t>Les services</a:t>
            </a:r>
          </a:p>
        </p:txBody>
      </p:sp>
      <p:sp>
        <p:nvSpPr>
          <p:cNvPr name="Freeform 16" id="16"/>
          <p:cNvSpPr/>
          <p:nvPr/>
        </p:nvSpPr>
        <p:spPr>
          <a:xfrm flipH="false" flipV="false" rot="-10800000">
            <a:off x="-465877" y="-4635036"/>
            <a:ext cx="3695540" cy="7418054"/>
          </a:xfrm>
          <a:custGeom>
            <a:avLst/>
            <a:gdLst/>
            <a:ahLst/>
            <a:cxnLst/>
            <a:rect r="r" b="b" t="t" l="l"/>
            <a:pathLst>
              <a:path h="7418054" w="3695540">
                <a:moveTo>
                  <a:pt x="0" y="0"/>
                </a:moveTo>
                <a:lnTo>
                  <a:pt x="3695540" y="0"/>
                </a:lnTo>
                <a:lnTo>
                  <a:pt x="3695540" y="7418054"/>
                </a:lnTo>
                <a:lnTo>
                  <a:pt x="0" y="74180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7" id="17"/>
          <p:cNvSpPr/>
          <p:nvPr/>
        </p:nvSpPr>
        <p:spPr>
          <a:xfrm flipH="false" flipV="false" rot="0">
            <a:off x="3145183" y="5423143"/>
            <a:ext cx="937482" cy="724418"/>
          </a:xfrm>
          <a:custGeom>
            <a:avLst/>
            <a:gdLst/>
            <a:ahLst/>
            <a:cxnLst/>
            <a:rect r="r" b="b" t="t" l="l"/>
            <a:pathLst>
              <a:path h="724418" w="937482">
                <a:moveTo>
                  <a:pt x="0" y="0"/>
                </a:moveTo>
                <a:lnTo>
                  <a:pt x="937482" y="0"/>
                </a:lnTo>
                <a:lnTo>
                  <a:pt x="937482" y="724418"/>
                </a:lnTo>
                <a:lnTo>
                  <a:pt x="0" y="7244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8" id="18"/>
          <p:cNvSpPr/>
          <p:nvPr/>
        </p:nvSpPr>
        <p:spPr>
          <a:xfrm flipH="false" flipV="false" rot="0">
            <a:off x="9388940" y="5494669"/>
            <a:ext cx="2491546" cy="656862"/>
          </a:xfrm>
          <a:custGeom>
            <a:avLst/>
            <a:gdLst/>
            <a:ahLst/>
            <a:cxnLst/>
            <a:rect r="r" b="b" t="t" l="l"/>
            <a:pathLst>
              <a:path h="656862" w="2491546">
                <a:moveTo>
                  <a:pt x="0" y="0"/>
                </a:moveTo>
                <a:lnTo>
                  <a:pt x="2491545" y="0"/>
                </a:lnTo>
                <a:lnTo>
                  <a:pt x="2491545" y="656862"/>
                </a:lnTo>
                <a:lnTo>
                  <a:pt x="0" y="6568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2579909" y="29732"/>
            <a:ext cx="5708091" cy="8516528"/>
          </a:xfrm>
          <a:custGeom>
            <a:avLst/>
            <a:gdLst/>
            <a:ahLst/>
            <a:cxnLst/>
            <a:rect r="r" b="b" t="t" l="l"/>
            <a:pathLst>
              <a:path h="8516528" w="5708091">
                <a:moveTo>
                  <a:pt x="0" y="0"/>
                </a:moveTo>
                <a:lnTo>
                  <a:pt x="5708091" y="0"/>
                </a:lnTo>
                <a:lnTo>
                  <a:pt x="5708091" y="8516528"/>
                </a:lnTo>
                <a:lnTo>
                  <a:pt x="0" y="8516528"/>
                </a:lnTo>
                <a:lnTo>
                  <a:pt x="0" y="0"/>
                </a:lnTo>
                <a:close/>
              </a:path>
            </a:pathLst>
          </a:custGeom>
          <a:blipFill>
            <a:blip r:embed="rId12"/>
            <a:stretch>
              <a:fillRect l="-93411" t="0" r="-94899" b="0"/>
            </a:stretch>
          </a:blipFill>
        </p:spPr>
      </p:sp>
      <p:sp>
        <p:nvSpPr>
          <p:cNvPr name="Freeform 20" id="20"/>
          <p:cNvSpPr/>
          <p:nvPr/>
        </p:nvSpPr>
        <p:spPr>
          <a:xfrm flipH="false" flipV="false" rot="0">
            <a:off x="14592460" y="2868946"/>
            <a:ext cx="3695540" cy="7418054"/>
          </a:xfrm>
          <a:custGeom>
            <a:avLst/>
            <a:gdLst/>
            <a:ahLst/>
            <a:cxnLst/>
            <a:rect r="r" b="b" t="t" l="l"/>
            <a:pathLst>
              <a:path h="7418054" w="3695540">
                <a:moveTo>
                  <a:pt x="0" y="0"/>
                </a:moveTo>
                <a:lnTo>
                  <a:pt x="3695540" y="0"/>
                </a:lnTo>
                <a:lnTo>
                  <a:pt x="3695540" y="7418054"/>
                </a:lnTo>
                <a:lnTo>
                  <a:pt x="0" y="74180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21" id="21"/>
          <p:cNvSpPr txBox="true"/>
          <p:nvPr/>
        </p:nvSpPr>
        <p:spPr>
          <a:xfrm rot="0">
            <a:off x="2541872" y="6327841"/>
            <a:ext cx="2099327" cy="851018"/>
          </a:xfrm>
          <a:prstGeom prst="rect">
            <a:avLst/>
          </a:prstGeom>
        </p:spPr>
        <p:txBody>
          <a:bodyPr anchor="t" rtlCol="false" tIns="0" lIns="0" bIns="0" rIns="0">
            <a:spAutoFit/>
          </a:bodyPr>
          <a:lstStyle/>
          <a:p>
            <a:pPr algn="ctr" marL="0" indent="0" lvl="0">
              <a:lnSpc>
                <a:spcPts val="2278"/>
              </a:lnSpc>
              <a:spcBef>
                <a:spcPct val="0"/>
              </a:spcBef>
            </a:pPr>
            <a:r>
              <a:rPr lang="en-US" b="true" sz="1779">
                <a:solidFill>
                  <a:srgbClr val="343432"/>
                </a:solidFill>
                <a:latin typeface="Open Sauce Bold"/>
                <a:ea typeface="Open Sauce Bold"/>
                <a:cs typeface="Open Sauce Bold"/>
                <a:sym typeface="Open Sauce Bold"/>
              </a:rPr>
              <a:t>Soumission des demandes d’autorisations</a:t>
            </a:r>
          </a:p>
        </p:txBody>
      </p:sp>
      <p:sp>
        <p:nvSpPr>
          <p:cNvPr name="TextBox 22" id="22"/>
          <p:cNvSpPr txBox="true"/>
          <p:nvPr/>
        </p:nvSpPr>
        <p:spPr>
          <a:xfrm rot="0">
            <a:off x="3122795" y="4419191"/>
            <a:ext cx="937482" cy="595909"/>
          </a:xfrm>
          <a:prstGeom prst="rect">
            <a:avLst/>
          </a:prstGeom>
        </p:spPr>
        <p:txBody>
          <a:bodyPr anchor="t" rtlCol="false" tIns="0" lIns="0" bIns="0" rIns="0">
            <a:spAutoFit/>
          </a:bodyPr>
          <a:lstStyle/>
          <a:p>
            <a:pPr algn="ctr" marL="0" indent="0" lvl="0">
              <a:lnSpc>
                <a:spcPts val="4895"/>
              </a:lnSpc>
              <a:spcBef>
                <a:spcPct val="0"/>
              </a:spcBef>
            </a:pPr>
            <a:r>
              <a:rPr lang="en-US" b="true" sz="3824">
                <a:solidFill>
                  <a:srgbClr val="F8F8F8"/>
                </a:solidFill>
                <a:latin typeface="Open Sauce Bold"/>
                <a:ea typeface="Open Sauce Bold"/>
                <a:cs typeface="Open Sauce Bold"/>
                <a:sym typeface="Open Sauce Bold"/>
              </a:rPr>
              <a:t>01</a:t>
            </a:r>
          </a:p>
        </p:txBody>
      </p:sp>
      <p:sp>
        <p:nvSpPr>
          <p:cNvPr name="TextBox 23" id="23"/>
          <p:cNvSpPr txBox="true"/>
          <p:nvPr/>
        </p:nvSpPr>
        <p:spPr>
          <a:xfrm rot="0">
            <a:off x="6053267" y="6327841"/>
            <a:ext cx="2099327" cy="564492"/>
          </a:xfrm>
          <a:prstGeom prst="rect">
            <a:avLst/>
          </a:prstGeom>
        </p:spPr>
        <p:txBody>
          <a:bodyPr anchor="t" rtlCol="false" tIns="0" lIns="0" bIns="0" rIns="0">
            <a:spAutoFit/>
          </a:bodyPr>
          <a:lstStyle/>
          <a:p>
            <a:pPr algn="ctr" marL="0" indent="0" lvl="0">
              <a:lnSpc>
                <a:spcPts val="2278"/>
              </a:lnSpc>
              <a:spcBef>
                <a:spcPct val="0"/>
              </a:spcBef>
            </a:pPr>
            <a:r>
              <a:rPr lang="en-US" b="true" sz="1779">
                <a:solidFill>
                  <a:srgbClr val="343432"/>
                </a:solidFill>
                <a:latin typeface="Open Sauce Bold"/>
                <a:ea typeface="Open Sauce Bold"/>
                <a:cs typeface="Open Sauce Bold"/>
                <a:sym typeface="Open Sauce Bold"/>
              </a:rPr>
              <a:t>Suivi de l’état des dossiers</a:t>
            </a:r>
          </a:p>
        </p:txBody>
      </p:sp>
      <p:sp>
        <p:nvSpPr>
          <p:cNvPr name="TextBox 24" id="24"/>
          <p:cNvSpPr txBox="true"/>
          <p:nvPr/>
        </p:nvSpPr>
        <p:spPr>
          <a:xfrm rot="0">
            <a:off x="6634189" y="4419191"/>
            <a:ext cx="937482" cy="595909"/>
          </a:xfrm>
          <a:prstGeom prst="rect">
            <a:avLst/>
          </a:prstGeom>
        </p:spPr>
        <p:txBody>
          <a:bodyPr anchor="t" rtlCol="false" tIns="0" lIns="0" bIns="0" rIns="0">
            <a:spAutoFit/>
          </a:bodyPr>
          <a:lstStyle/>
          <a:p>
            <a:pPr algn="ctr" marL="0" indent="0" lvl="0">
              <a:lnSpc>
                <a:spcPts val="4895"/>
              </a:lnSpc>
              <a:spcBef>
                <a:spcPct val="0"/>
              </a:spcBef>
            </a:pPr>
            <a:r>
              <a:rPr lang="en-US" b="true" sz="3824">
                <a:solidFill>
                  <a:srgbClr val="F8F8F8"/>
                </a:solidFill>
                <a:latin typeface="Open Sauce Bold"/>
                <a:ea typeface="Open Sauce Bold"/>
                <a:cs typeface="Open Sauce Bold"/>
                <a:sym typeface="Open Sauce Bold"/>
              </a:rPr>
              <a:t>02</a:t>
            </a:r>
          </a:p>
        </p:txBody>
      </p:sp>
      <p:sp>
        <p:nvSpPr>
          <p:cNvPr name="TextBox 25" id="25"/>
          <p:cNvSpPr txBox="true"/>
          <p:nvPr/>
        </p:nvSpPr>
        <p:spPr>
          <a:xfrm rot="0">
            <a:off x="9562661" y="6327841"/>
            <a:ext cx="2099327" cy="851018"/>
          </a:xfrm>
          <a:prstGeom prst="rect">
            <a:avLst/>
          </a:prstGeom>
        </p:spPr>
        <p:txBody>
          <a:bodyPr anchor="t" rtlCol="false" tIns="0" lIns="0" bIns="0" rIns="0">
            <a:spAutoFit/>
          </a:bodyPr>
          <a:lstStyle/>
          <a:p>
            <a:pPr algn="ctr" marL="0" indent="0" lvl="0">
              <a:lnSpc>
                <a:spcPts val="2278"/>
              </a:lnSpc>
              <a:spcBef>
                <a:spcPct val="0"/>
              </a:spcBef>
            </a:pPr>
            <a:r>
              <a:rPr lang="en-US" b="true" sz="1779">
                <a:solidFill>
                  <a:srgbClr val="343432"/>
                </a:solidFill>
                <a:latin typeface="Open Sauce Bold"/>
                <a:ea typeface="Open Sauce Bold"/>
                <a:cs typeface="Open Sauce Bold"/>
                <a:sym typeface="Open Sauce Bold"/>
              </a:rPr>
              <a:t>Téléchargement des documents requis</a:t>
            </a:r>
          </a:p>
        </p:txBody>
      </p:sp>
      <p:sp>
        <p:nvSpPr>
          <p:cNvPr name="TextBox 26" id="26"/>
          <p:cNvSpPr txBox="true"/>
          <p:nvPr/>
        </p:nvSpPr>
        <p:spPr>
          <a:xfrm rot="0">
            <a:off x="10143583" y="4419191"/>
            <a:ext cx="937482" cy="595909"/>
          </a:xfrm>
          <a:prstGeom prst="rect">
            <a:avLst/>
          </a:prstGeom>
        </p:spPr>
        <p:txBody>
          <a:bodyPr anchor="t" rtlCol="false" tIns="0" lIns="0" bIns="0" rIns="0">
            <a:spAutoFit/>
          </a:bodyPr>
          <a:lstStyle/>
          <a:p>
            <a:pPr algn="ctr" marL="0" indent="0" lvl="0">
              <a:lnSpc>
                <a:spcPts val="4895"/>
              </a:lnSpc>
              <a:spcBef>
                <a:spcPct val="0"/>
              </a:spcBef>
            </a:pPr>
            <a:r>
              <a:rPr lang="en-US" b="true" sz="3824">
                <a:solidFill>
                  <a:srgbClr val="F8F8F8"/>
                </a:solidFill>
                <a:latin typeface="Open Sauce Bold"/>
                <a:ea typeface="Open Sauce Bold"/>
                <a:cs typeface="Open Sauce Bold"/>
                <a:sym typeface="Open Sauce Bold"/>
              </a:rPr>
              <a:t>03</a:t>
            </a:r>
          </a:p>
        </p:txBody>
      </p:sp>
      <p:sp>
        <p:nvSpPr>
          <p:cNvPr name="TextBox 27" id="27"/>
          <p:cNvSpPr txBox="true"/>
          <p:nvPr/>
        </p:nvSpPr>
        <p:spPr>
          <a:xfrm rot="0">
            <a:off x="2095642" y="3053081"/>
            <a:ext cx="10658931" cy="789176"/>
          </a:xfrm>
          <a:prstGeom prst="rect">
            <a:avLst/>
          </a:prstGeom>
        </p:spPr>
        <p:txBody>
          <a:bodyPr anchor="t" rtlCol="false" tIns="0" lIns="0" bIns="0" rIns="0">
            <a:spAutoFit/>
          </a:bodyPr>
          <a:lstStyle/>
          <a:p>
            <a:pPr algn="l" marL="0" indent="0" lvl="0">
              <a:lnSpc>
                <a:spcPts val="3301"/>
              </a:lnSpc>
            </a:pPr>
            <a:r>
              <a:rPr lang="en-US" sz="2200">
                <a:solidFill>
                  <a:srgbClr val="343432"/>
                </a:solidFill>
                <a:latin typeface="Open Sauce"/>
                <a:ea typeface="Open Sauce"/>
                <a:cs typeface="Open Sauce"/>
                <a:sym typeface="Open Sauce"/>
              </a:rPr>
              <a:t>Espace numérique des opérateurs ferroviaires pour le dépôt et le traitement des autorisations. Interface sécurisée avec authentification utilisateur.</a:t>
            </a:r>
          </a:p>
        </p:txBody>
      </p:sp>
      <p:sp>
        <p:nvSpPr>
          <p:cNvPr name="TextBox 28" id="28"/>
          <p:cNvSpPr txBox="true"/>
          <p:nvPr/>
        </p:nvSpPr>
        <p:spPr>
          <a:xfrm rot="0">
            <a:off x="16844616" y="9035942"/>
            <a:ext cx="1140579" cy="734060"/>
          </a:xfrm>
          <a:prstGeom prst="rect">
            <a:avLst/>
          </a:prstGeom>
        </p:spPr>
        <p:txBody>
          <a:bodyPr anchor="t" rtlCol="false" tIns="0" lIns="0" bIns="0" rIns="0">
            <a:spAutoFit/>
          </a:bodyPr>
          <a:lstStyle/>
          <a:p>
            <a:pPr algn="ctr" marL="0" indent="0" lvl="0">
              <a:lnSpc>
                <a:spcPts val="5920"/>
              </a:lnSpc>
              <a:spcBef>
                <a:spcPct val="0"/>
              </a:spcBef>
            </a:pPr>
            <a:r>
              <a:rPr lang="en-US" b="true" sz="4625">
                <a:solidFill>
                  <a:srgbClr val="FFFFFF"/>
                </a:solidFill>
                <a:latin typeface="Open Sauce Bold"/>
                <a:ea typeface="Open Sauce Bold"/>
                <a:cs typeface="Open Sauce Bold"/>
                <a:sym typeface="Open Sauce Bold"/>
              </a:rPr>
              <a:t>4</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683899" y="745147"/>
            <a:ext cx="16920201" cy="8796706"/>
            <a:chOff x="0" y="0"/>
            <a:chExt cx="4456349" cy="2316828"/>
          </a:xfrm>
        </p:grpSpPr>
        <p:sp>
          <p:nvSpPr>
            <p:cNvPr name="Freeform 4" id="4"/>
            <p:cNvSpPr/>
            <p:nvPr/>
          </p:nvSpPr>
          <p:spPr>
            <a:xfrm flipH="false" flipV="false" rot="0">
              <a:off x="0" y="0"/>
              <a:ext cx="4456349" cy="2316828"/>
            </a:xfrm>
            <a:custGeom>
              <a:avLst/>
              <a:gdLst/>
              <a:ahLst/>
              <a:cxnLst/>
              <a:rect r="r" b="b" t="t" l="l"/>
              <a:pathLst>
                <a:path h="2316828" w="4456349">
                  <a:moveTo>
                    <a:pt x="11439" y="0"/>
                  </a:moveTo>
                  <a:lnTo>
                    <a:pt x="4444910" y="0"/>
                  </a:lnTo>
                  <a:cubicBezTo>
                    <a:pt x="4447944" y="0"/>
                    <a:pt x="4450854" y="1205"/>
                    <a:pt x="4452999" y="3350"/>
                  </a:cubicBezTo>
                  <a:cubicBezTo>
                    <a:pt x="4455144" y="5496"/>
                    <a:pt x="4456349" y="8405"/>
                    <a:pt x="4456349" y="11439"/>
                  </a:cubicBezTo>
                  <a:lnTo>
                    <a:pt x="4456349" y="2305389"/>
                  </a:lnTo>
                  <a:cubicBezTo>
                    <a:pt x="4456349" y="2308423"/>
                    <a:pt x="4455144" y="2311332"/>
                    <a:pt x="4452999" y="2313478"/>
                  </a:cubicBezTo>
                  <a:cubicBezTo>
                    <a:pt x="4450854" y="2315623"/>
                    <a:pt x="4447944" y="2316828"/>
                    <a:pt x="4444910" y="2316828"/>
                  </a:cubicBezTo>
                  <a:lnTo>
                    <a:pt x="11439" y="2316828"/>
                  </a:lnTo>
                  <a:cubicBezTo>
                    <a:pt x="8405" y="2316828"/>
                    <a:pt x="5496" y="2315623"/>
                    <a:pt x="3350" y="2313478"/>
                  </a:cubicBezTo>
                  <a:cubicBezTo>
                    <a:pt x="1205" y="2311332"/>
                    <a:pt x="0" y="2308423"/>
                    <a:pt x="0" y="2305389"/>
                  </a:cubicBezTo>
                  <a:lnTo>
                    <a:pt x="0" y="11439"/>
                  </a:lnTo>
                  <a:cubicBezTo>
                    <a:pt x="0" y="8405"/>
                    <a:pt x="1205" y="5496"/>
                    <a:pt x="3350" y="3350"/>
                  </a:cubicBezTo>
                  <a:cubicBezTo>
                    <a:pt x="5496" y="1205"/>
                    <a:pt x="8405" y="0"/>
                    <a:pt x="11439" y="0"/>
                  </a:cubicBezTo>
                  <a:close/>
                </a:path>
              </a:pathLst>
            </a:custGeom>
            <a:solidFill>
              <a:srgbClr val="FDFBFB">
                <a:alpha val="98824"/>
              </a:srgbClr>
            </a:solidFill>
            <a:ln cap="rnd">
              <a:noFill/>
              <a:prstDash val="solid"/>
              <a:round/>
            </a:ln>
          </p:spPr>
        </p:sp>
        <p:sp>
          <p:nvSpPr>
            <p:cNvPr name="TextBox 5" id="5"/>
            <p:cNvSpPr txBox="true"/>
            <p:nvPr/>
          </p:nvSpPr>
          <p:spPr>
            <a:xfrm>
              <a:off x="0" y="-19050"/>
              <a:ext cx="4456349" cy="2335878"/>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6" id="6"/>
          <p:cNvSpPr txBox="true"/>
          <p:nvPr/>
        </p:nvSpPr>
        <p:spPr>
          <a:xfrm rot="0">
            <a:off x="1327902" y="1597213"/>
            <a:ext cx="11508230" cy="861880"/>
          </a:xfrm>
          <a:prstGeom prst="rect">
            <a:avLst/>
          </a:prstGeom>
        </p:spPr>
        <p:txBody>
          <a:bodyPr anchor="t" rtlCol="false" tIns="0" lIns="0" bIns="0" rIns="0">
            <a:spAutoFit/>
          </a:bodyPr>
          <a:lstStyle/>
          <a:p>
            <a:pPr algn="l" marL="0" indent="0" lvl="0">
              <a:lnSpc>
                <a:spcPts val="7178"/>
              </a:lnSpc>
              <a:spcBef>
                <a:spcPct val="0"/>
              </a:spcBef>
            </a:pPr>
            <a:r>
              <a:rPr lang="en-US" b="true" sz="5127" spc="-102">
                <a:solidFill>
                  <a:srgbClr val="191919"/>
                </a:solidFill>
                <a:latin typeface="Open Sauce Bold"/>
                <a:ea typeface="Open Sauce Bold"/>
                <a:cs typeface="Open Sauce Bold"/>
                <a:sym typeface="Open Sauce Bold"/>
              </a:rPr>
              <a:t>Mise en avant des contenus publics</a:t>
            </a:r>
          </a:p>
        </p:txBody>
      </p:sp>
      <p:sp>
        <p:nvSpPr>
          <p:cNvPr name="Freeform 7" id="7"/>
          <p:cNvSpPr/>
          <p:nvPr/>
        </p:nvSpPr>
        <p:spPr>
          <a:xfrm flipH="false" flipV="false" rot="-5400000">
            <a:off x="5057121" y="5310195"/>
            <a:ext cx="1015539" cy="2086127"/>
          </a:xfrm>
          <a:custGeom>
            <a:avLst/>
            <a:gdLst/>
            <a:ahLst/>
            <a:cxnLst/>
            <a:rect r="r" b="b" t="t" l="l"/>
            <a:pathLst>
              <a:path h="2086127" w="1015539">
                <a:moveTo>
                  <a:pt x="0" y="0"/>
                </a:moveTo>
                <a:lnTo>
                  <a:pt x="1015539" y="0"/>
                </a:lnTo>
                <a:lnTo>
                  <a:pt x="1015539" y="2086126"/>
                </a:lnTo>
                <a:lnTo>
                  <a:pt x="0" y="2086126"/>
                </a:lnTo>
                <a:lnTo>
                  <a:pt x="0" y="0"/>
                </a:lnTo>
                <a:close/>
              </a:path>
            </a:pathLst>
          </a:custGeom>
          <a:blipFill>
            <a:blip r:embed="rId3">
              <a:extLst>
                <a:ext uri="{96DAC541-7B7A-43D3-8B79-37D633B846F1}">
                  <asvg:svgBlip xmlns:asvg="http://schemas.microsoft.com/office/drawing/2016/SVG/main" r:embed="rId4"/>
                </a:ext>
              </a:extLst>
            </a:blip>
            <a:stretch>
              <a:fillRect l="-105420" t="0" r="0" b="0"/>
            </a:stretch>
          </a:blipFill>
          <a:ln cap="sq">
            <a:noFill/>
            <a:prstDash val="solid"/>
            <a:miter/>
          </a:ln>
        </p:spPr>
      </p:sp>
      <p:sp>
        <p:nvSpPr>
          <p:cNvPr name="Freeform 8" id="8"/>
          <p:cNvSpPr/>
          <p:nvPr/>
        </p:nvSpPr>
        <p:spPr>
          <a:xfrm flipH="false" flipV="false" rot="-5400000">
            <a:off x="4615646" y="5940339"/>
            <a:ext cx="1841376" cy="1841376"/>
          </a:xfrm>
          <a:custGeom>
            <a:avLst/>
            <a:gdLst/>
            <a:ahLst/>
            <a:cxnLst/>
            <a:rect r="r" b="b" t="t" l="l"/>
            <a:pathLst>
              <a:path h="1841376" w="1841376">
                <a:moveTo>
                  <a:pt x="0" y="0"/>
                </a:moveTo>
                <a:lnTo>
                  <a:pt x="1841376" y="0"/>
                </a:lnTo>
                <a:lnTo>
                  <a:pt x="1841376" y="1841377"/>
                </a:lnTo>
                <a:lnTo>
                  <a:pt x="0" y="18413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AutoShape 9" id="9"/>
          <p:cNvSpPr/>
          <p:nvPr/>
        </p:nvSpPr>
        <p:spPr>
          <a:xfrm>
            <a:off x="5564891" y="7781716"/>
            <a:ext cx="0" cy="467846"/>
          </a:xfrm>
          <a:prstGeom prst="line">
            <a:avLst/>
          </a:prstGeom>
          <a:ln cap="rnd" w="38100">
            <a:solidFill>
              <a:srgbClr val="106861"/>
            </a:solidFill>
            <a:prstDash val="sysDot"/>
            <a:headEnd type="none" len="sm" w="sm"/>
            <a:tailEnd type="oval" len="lg" w="lg"/>
          </a:ln>
        </p:spPr>
      </p:sp>
      <p:sp>
        <p:nvSpPr>
          <p:cNvPr name="Freeform 10" id="10"/>
          <p:cNvSpPr/>
          <p:nvPr/>
        </p:nvSpPr>
        <p:spPr>
          <a:xfrm flipH="true" flipV="true" rot="-5400000">
            <a:off x="7117594" y="6325734"/>
            <a:ext cx="1015539" cy="2086127"/>
          </a:xfrm>
          <a:custGeom>
            <a:avLst/>
            <a:gdLst/>
            <a:ahLst/>
            <a:cxnLst/>
            <a:rect r="r" b="b" t="t" l="l"/>
            <a:pathLst>
              <a:path h="2086127" w="1015539">
                <a:moveTo>
                  <a:pt x="1015539" y="2086126"/>
                </a:moveTo>
                <a:lnTo>
                  <a:pt x="0" y="2086126"/>
                </a:lnTo>
                <a:lnTo>
                  <a:pt x="0" y="0"/>
                </a:lnTo>
                <a:lnTo>
                  <a:pt x="1015539" y="0"/>
                </a:lnTo>
                <a:lnTo>
                  <a:pt x="1015539" y="2086126"/>
                </a:lnTo>
                <a:close/>
              </a:path>
            </a:pathLst>
          </a:custGeom>
          <a:blipFill>
            <a:blip r:embed="rId7">
              <a:extLst>
                <a:ext uri="{96DAC541-7B7A-43D3-8B79-37D633B846F1}">
                  <asvg:svgBlip xmlns:asvg="http://schemas.microsoft.com/office/drawing/2016/SVG/main" r:embed="rId8"/>
                </a:ext>
              </a:extLst>
            </a:blip>
            <a:stretch>
              <a:fillRect l="-105420" t="0" r="0" b="0"/>
            </a:stretch>
          </a:blipFill>
        </p:spPr>
      </p:sp>
      <p:sp>
        <p:nvSpPr>
          <p:cNvPr name="Freeform 11" id="11"/>
          <p:cNvSpPr/>
          <p:nvPr/>
        </p:nvSpPr>
        <p:spPr>
          <a:xfrm flipH="false" flipV="false" rot="-5400000">
            <a:off x="6704676" y="5940339"/>
            <a:ext cx="1841376" cy="1841376"/>
          </a:xfrm>
          <a:custGeom>
            <a:avLst/>
            <a:gdLst/>
            <a:ahLst/>
            <a:cxnLst/>
            <a:rect r="r" b="b" t="t" l="l"/>
            <a:pathLst>
              <a:path h="1841376" w="1841376">
                <a:moveTo>
                  <a:pt x="0" y="0"/>
                </a:moveTo>
                <a:lnTo>
                  <a:pt x="1841376" y="0"/>
                </a:lnTo>
                <a:lnTo>
                  <a:pt x="1841376" y="1841377"/>
                </a:lnTo>
                <a:lnTo>
                  <a:pt x="0" y="18413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AutoShape 12" id="12"/>
          <p:cNvSpPr/>
          <p:nvPr/>
        </p:nvSpPr>
        <p:spPr>
          <a:xfrm flipH="true" flipV="true">
            <a:off x="7594685" y="5472315"/>
            <a:ext cx="3218" cy="467835"/>
          </a:xfrm>
          <a:prstGeom prst="line">
            <a:avLst/>
          </a:prstGeom>
          <a:ln cap="rnd" w="38100">
            <a:solidFill>
              <a:srgbClr val="AEEA00"/>
            </a:solidFill>
            <a:prstDash val="sysDot"/>
            <a:headEnd type="none" len="sm" w="sm"/>
            <a:tailEnd type="oval" len="lg" w="lg"/>
          </a:ln>
        </p:spPr>
      </p:sp>
      <p:sp>
        <p:nvSpPr>
          <p:cNvPr name="Freeform 13" id="13"/>
          <p:cNvSpPr/>
          <p:nvPr/>
        </p:nvSpPr>
        <p:spPr>
          <a:xfrm flipH="false" flipV="false" rot="-5400000">
            <a:off x="9174068" y="5310283"/>
            <a:ext cx="1015539" cy="2086127"/>
          </a:xfrm>
          <a:custGeom>
            <a:avLst/>
            <a:gdLst/>
            <a:ahLst/>
            <a:cxnLst/>
            <a:rect r="r" b="b" t="t" l="l"/>
            <a:pathLst>
              <a:path h="2086127" w="1015539">
                <a:moveTo>
                  <a:pt x="0" y="0"/>
                </a:moveTo>
                <a:lnTo>
                  <a:pt x="1015539" y="0"/>
                </a:lnTo>
                <a:lnTo>
                  <a:pt x="1015539" y="2086127"/>
                </a:lnTo>
                <a:lnTo>
                  <a:pt x="0" y="2086127"/>
                </a:lnTo>
                <a:lnTo>
                  <a:pt x="0" y="0"/>
                </a:lnTo>
                <a:close/>
              </a:path>
            </a:pathLst>
          </a:custGeom>
          <a:blipFill>
            <a:blip r:embed="rId3">
              <a:extLst>
                <a:ext uri="{96DAC541-7B7A-43D3-8B79-37D633B846F1}">
                  <asvg:svgBlip xmlns:asvg="http://schemas.microsoft.com/office/drawing/2016/SVG/main" r:embed="rId4"/>
                </a:ext>
              </a:extLst>
            </a:blip>
            <a:stretch>
              <a:fillRect l="-105420" t="0" r="0" b="0"/>
            </a:stretch>
          </a:blipFill>
          <a:ln cap="sq">
            <a:noFill/>
            <a:prstDash val="solid"/>
            <a:miter/>
          </a:ln>
        </p:spPr>
      </p:sp>
      <p:sp>
        <p:nvSpPr>
          <p:cNvPr name="Freeform 14" id="14"/>
          <p:cNvSpPr/>
          <p:nvPr/>
        </p:nvSpPr>
        <p:spPr>
          <a:xfrm flipH="false" flipV="false" rot="-5400000">
            <a:off x="8732593" y="5940427"/>
            <a:ext cx="1841376" cy="1841376"/>
          </a:xfrm>
          <a:custGeom>
            <a:avLst/>
            <a:gdLst/>
            <a:ahLst/>
            <a:cxnLst/>
            <a:rect r="r" b="b" t="t" l="l"/>
            <a:pathLst>
              <a:path h="1841376" w="1841376">
                <a:moveTo>
                  <a:pt x="0" y="0"/>
                </a:moveTo>
                <a:lnTo>
                  <a:pt x="1841376" y="0"/>
                </a:lnTo>
                <a:lnTo>
                  <a:pt x="1841376" y="1841377"/>
                </a:lnTo>
                <a:lnTo>
                  <a:pt x="0" y="18413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AutoShape 15" id="15"/>
          <p:cNvSpPr/>
          <p:nvPr/>
        </p:nvSpPr>
        <p:spPr>
          <a:xfrm>
            <a:off x="9681838" y="7781804"/>
            <a:ext cx="0" cy="467846"/>
          </a:xfrm>
          <a:prstGeom prst="line">
            <a:avLst/>
          </a:prstGeom>
          <a:ln cap="rnd" w="38100">
            <a:solidFill>
              <a:srgbClr val="106861"/>
            </a:solidFill>
            <a:prstDash val="sysDot"/>
            <a:headEnd type="none" len="sm" w="sm"/>
            <a:tailEnd type="oval" len="lg" w="lg"/>
          </a:ln>
        </p:spPr>
      </p:sp>
      <p:sp>
        <p:nvSpPr>
          <p:cNvPr name="Freeform 16" id="16"/>
          <p:cNvSpPr/>
          <p:nvPr/>
        </p:nvSpPr>
        <p:spPr>
          <a:xfrm flipH="true" flipV="true" rot="-5400000">
            <a:off x="11285299" y="6304023"/>
            <a:ext cx="1015539" cy="2086127"/>
          </a:xfrm>
          <a:custGeom>
            <a:avLst/>
            <a:gdLst/>
            <a:ahLst/>
            <a:cxnLst/>
            <a:rect r="r" b="b" t="t" l="l"/>
            <a:pathLst>
              <a:path h="2086127" w="1015539">
                <a:moveTo>
                  <a:pt x="1015539" y="2086127"/>
                </a:moveTo>
                <a:lnTo>
                  <a:pt x="0" y="2086127"/>
                </a:lnTo>
                <a:lnTo>
                  <a:pt x="0" y="0"/>
                </a:lnTo>
                <a:lnTo>
                  <a:pt x="1015539" y="0"/>
                </a:lnTo>
                <a:lnTo>
                  <a:pt x="1015539" y="2086127"/>
                </a:lnTo>
                <a:close/>
              </a:path>
            </a:pathLst>
          </a:custGeom>
          <a:blipFill>
            <a:blip r:embed="rId7">
              <a:extLst>
                <a:ext uri="{96DAC541-7B7A-43D3-8B79-37D633B846F1}">
                  <asvg:svgBlip xmlns:asvg="http://schemas.microsoft.com/office/drawing/2016/SVG/main" r:embed="rId8"/>
                </a:ext>
              </a:extLst>
            </a:blip>
            <a:stretch>
              <a:fillRect l="-105420" t="0" r="0" b="0"/>
            </a:stretch>
          </a:blipFill>
          <a:ln cap="sq">
            <a:noFill/>
            <a:prstDash val="solid"/>
            <a:miter/>
          </a:ln>
        </p:spPr>
      </p:sp>
      <p:sp>
        <p:nvSpPr>
          <p:cNvPr name="Freeform 17" id="17"/>
          <p:cNvSpPr/>
          <p:nvPr/>
        </p:nvSpPr>
        <p:spPr>
          <a:xfrm flipH="false" flipV="false" rot="-5400000">
            <a:off x="10872380" y="5918629"/>
            <a:ext cx="1841376" cy="1841376"/>
          </a:xfrm>
          <a:custGeom>
            <a:avLst/>
            <a:gdLst/>
            <a:ahLst/>
            <a:cxnLst/>
            <a:rect r="r" b="b" t="t" l="l"/>
            <a:pathLst>
              <a:path h="1841376" w="1841376">
                <a:moveTo>
                  <a:pt x="0" y="0"/>
                </a:moveTo>
                <a:lnTo>
                  <a:pt x="1841377" y="0"/>
                </a:lnTo>
                <a:lnTo>
                  <a:pt x="1841377" y="1841376"/>
                </a:lnTo>
                <a:lnTo>
                  <a:pt x="0" y="18413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AutoShape 18" id="18"/>
          <p:cNvSpPr/>
          <p:nvPr/>
        </p:nvSpPr>
        <p:spPr>
          <a:xfrm flipH="true" flipV="true">
            <a:off x="11762390" y="5450605"/>
            <a:ext cx="3218" cy="467835"/>
          </a:xfrm>
          <a:prstGeom prst="line">
            <a:avLst/>
          </a:prstGeom>
          <a:ln cap="rnd" w="38100">
            <a:solidFill>
              <a:srgbClr val="AEEA00"/>
            </a:solidFill>
            <a:prstDash val="sysDot"/>
            <a:headEnd type="none" len="sm" w="sm"/>
            <a:tailEnd type="oval" len="lg" w="lg"/>
          </a:ln>
        </p:spPr>
      </p:sp>
      <p:sp>
        <p:nvSpPr>
          <p:cNvPr name="Freeform 19" id="19"/>
          <p:cNvSpPr/>
          <p:nvPr/>
        </p:nvSpPr>
        <p:spPr>
          <a:xfrm flipH="false" flipV="false" rot="0">
            <a:off x="11385580" y="6375402"/>
            <a:ext cx="763214" cy="971684"/>
          </a:xfrm>
          <a:custGeom>
            <a:avLst/>
            <a:gdLst/>
            <a:ahLst/>
            <a:cxnLst/>
            <a:rect r="r" b="b" t="t" l="l"/>
            <a:pathLst>
              <a:path h="971684" w="763214">
                <a:moveTo>
                  <a:pt x="0" y="0"/>
                </a:moveTo>
                <a:lnTo>
                  <a:pt x="763214" y="0"/>
                </a:lnTo>
                <a:lnTo>
                  <a:pt x="763214" y="971685"/>
                </a:lnTo>
                <a:lnTo>
                  <a:pt x="0" y="9716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20" id="20"/>
          <p:cNvSpPr/>
          <p:nvPr/>
        </p:nvSpPr>
        <p:spPr>
          <a:xfrm flipH="false" flipV="false" rot="0">
            <a:off x="5127887" y="6511987"/>
            <a:ext cx="816893" cy="766859"/>
          </a:xfrm>
          <a:custGeom>
            <a:avLst/>
            <a:gdLst/>
            <a:ahLst/>
            <a:cxnLst/>
            <a:rect r="r" b="b" t="t" l="l"/>
            <a:pathLst>
              <a:path h="766859" w="816893">
                <a:moveTo>
                  <a:pt x="0" y="0"/>
                </a:moveTo>
                <a:lnTo>
                  <a:pt x="816894" y="0"/>
                </a:lnTo>
                <a:lnTo>
                  <a:pt x="816894" y="766859"/>
                </a:lnTo>
                <a:lnTo>
                  <a:pt x="0" y="76685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21" id="21"/>
          <p:cNvSpPr/>
          <p:nvPr/>
        </p:nvSpPr>
        <p:spPr>
          <a:xfrm flipH="false" flipV="false" rot="0">
            <a:off x="7162422" y="6397113"/>
            <a:ext cx="867745" cy="856898"/>
          </a:xfrm>
          <a:custGeom>
            <a:avLst/>
            <a:gdLst/>
            <a:ahLst/>
            <a:cxnLst/>
            <a:rect r="r" b="b" t="t" l="l"/>
            <a:pathLst>
              <a:path h="856898" w="867745">
                <a:moveTo>
                  <a:pt x="0" y="0"/>
                </a:moveTo>
                <a:lnTo>
                  <a:pt x="867744" y="0"/>
                </a:lnTo>
                <a:lnTo>
                  <a:pt x="867744" y="856898"/>
                </a:lnTo>
                <a:lnTo>
                  <a:pt x="0" y="85689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22" id="22"/>
          <p:cNvSpPr/>
          <p:nvPr/>
        </p:nvSpPr>
        <p:spPr>
          <a:xfrm flipH="false" flipV="false" rot="0">
            <a:off x="9158155" y="6397113"/>
            <a:ext cx="895690" cy="897322"/>
          </a:xfrm>
          <a:custGeom>
            <a:avLst/>
            <a:gdLst/>
            <a:ahLst/>
            <a:cxnLst/>
            <a:rect r="r" b="b" t="t" l="l"/>
            <a:pathLst>
              <a:path h="897322" w="895690">
                <a:moveTo>
                  <a:pt x="0" y="0"/>
                </a:moveTo>
                <a:lnTo>
                  <a:pt x="895691" y="0"/>
                </a:lnTo>
                <a:lnTo>
                  <a:pt x="895691" y="897322"/>
                </a:lnTo>
                <a:lnTo>
                  <a:pt x="0" y="89732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TextBox 23" id="23"/>
          <p:cNvSpPr txBox="true"/>
          <p:nvPr/>
        </p:nvSpPr>
        <p:spPr>
          <a:xfrm rot="0">
            <a:off x="3589430" y="8338073"/>
            <a:ext cx="4035933" cy="566352"/>
          </a:xfrm>
          <a:prstGeom prst="rect">
            <a:avLst/>
          </a:prstGeom>
        </p:spPr>
        <p:txBody>
          <a:bodyPr anchor="t" rtlCol="false" tIns="0" lIns="0" bIns="0" rIns="0">
            <a:spAutoFit/>
          </a:bodyPr>
          <a:lstStyle/>
          <a:p>
            <a:pPr algn="ctr" marL="0" indent="0" lvl="0">
              <a:lnSpc>
                <a:spcPts val="2336"/>
              </a:lnSpc>
              <a:spcBef>
                <a:spcPct val="0"/>
              </a:spcBef>
            </a:pPr>
            <a:r>
              <a:rPr lang="en-US" sz="1825">
                <a:solidFill>
                  <a:srgbClr val="343432"/>
                </a:solidFill>
                <a:latin typeface="Open Sauce"/>
                <a:ea typeface="Open Sauce"/>
                <a:cs typeface="Open Sauce"/>
                <a:sym typeface="Open Sauce"/>
              </a:rPr>
              <a:t>Centralisation des actualités et publications officielles</a:t>
            </a:r>
          </a:p>
        </p:txBody>
      </p:sp>
      <p:sp>
        <p:nvSpPr>
          <p:cNvPr name="TextBox 24" id="24"/>
          <p:cNvSpPr txBox="true"/>
          <p:nvPr/>
        </p:nvSpPr>
        <p:spPr>
          <a:xfrm rot="0">
            <a:off x="5368863" y="4749711"/>
            <a:ext cx="4513002" cy="566352"/>
          </a:xfrm>
          <a:prstGeom prst="rect">
            <a:avLst/>
          </a:prstGeom>
        </p:spPr>
        <p:txBody>
          <a:bodyPr anchor="t" rtlCol="false" tIns="0" lIns="0" bIns="0" rIns="0">
            <a:spAutoFit/>
          </a:bodyPr>
          <a:lstStyle/>
          <a:p>
            <a:pPr algn="ctr" marL="0" indent="0" lvl="0">
              <a:lnSpc>
                <a:spcPts val="2336"/>
              </a:lnSpc>
              <a:spcBef>
                <a:spcPct val="0"/>
              </a:spcBef>
            </a:pPr>
            <a:r>
              <a:rPr lang="en-US" sz="1825">
                <a:solidFill>
                  <a:srgbClr val="343432"/>
                </a:solidFill>
                <a:latin typeface="Open Sauce"/>
                <a:ea typeface="Open Sauce"/>
                <a:cs typeface="Open Sauce"/>
                <a:sym typeface="Open Sauce"/>
              </a:rPr>
              <a:t>Interface dynamique et interactive pour le grand public</a:t>
            </a:r>
          </a:p>
        </p:txBody>
      </p:sp>
      <p:sp>
        <p:nvSpPr>
          <p:cNvPr name="TextBox 25" id="25"/>
          <p:cNvSpPr txBox="true"/>
          <p:nvPr/>
        </p:nvSpPr>
        <p:spPr>
          <a:xfrm rot="0">
            <a:off x="7756572" y="8338073"/>
            <a:ext cx="4023947" cy="566352"/>
          </a:xfrm>
          <a:prstGeom prst="rect">
            <a:avLst/>
          </a:prstGeom>
        </p:spPr>
        <p:txBody>
          <a:bodyPr anchor="t" rtlCol="false" tIns="0" lIns="0" bIns="0" rIns="0">
            <a:spAutoFit/>
          </a:bodyPr>
          <a:lstStyle/>
          <a:p>
            <a:pPr algn="ctr" marL="0" indent="0" lvl="0">
              <a:lnSpc>
                <a:spcPts val="2336"/>
              </a:lnSpc>
              <a:spcBef>
                <a:spcPct val="0"/>
              </a:spcBef>
            </a:pPr>
            <a:r>
              <a:rPr lang="en-US" sz="1825">
                <a:solidFill>
                  <a:srgbClr val="343432"/>
                </a:solidFill>
                <a:latin typeface="Open Sauce"/>
                <a:ea typeface="Open Sauce"/>
                <a:cs typeface="Open Sauce"/>
                <a:sym typeface="Open Sauce"/>
              </a:rPr>
              <a:t>Moteur de recherche et filtres thématiques performants</a:t>
            </a:r>
          </a:p>
        </p:txBody>
      </p:sp>
      <p:sp>
        <p:nvSpPr>
          <p:cNvPr name="TextBox 26" id="26"/>
          <p:cNvSpPr txBox="true"/>
          <p:nvPr/>
        </p:nvSpPr>
        <p:spPr>
          <a:xfrm rot="0">
            <a:off x="10204036" y="4749711"/>
            <a:ext cx="3178065" cy="566352"/>
          </a:xfrm>
          <a:prstGeom prst="rect">
            <a:avLst/>
          </a:prstGeom>
        </p:spPr>
        <p:txBody>
          <a:bodyPr anchor="t" rtlCol="false" tIns="0" lIns="0" bIns="0" rIns="0">
            <a:spAutoFit/>
          </a:bodyPr>
          <a:lstStyle/>
          <a:p>
            <a:pPr algn="ctr" marL="0" indent="0" lvl="0">
              <a:lnSpc>
                <a:spcPts val="2336"/>
              </a:lnSpc>
              <a:spcBef>
                <a:spcPct val="0"/>
              </a:spcBef>
            </a:pPr>
            <a:r>
              <a:rPr lang="en-US" sz="1825">
                <a:solidFill>
                  <a:srgbClr val="343432"/>
                </a:solidFill>
                <a:latin typeface="Open Sauce"/>
                <a:ea typeface="Open Sauce"/>
                <a:cs typeface="Open Sauce"/>
                <a:sym typeface="Open Sauce"/>
              </a:rPr>
              <a:t>Expérience utilisateur fluide et responsive</a:t>
            </a:r>
          </a:p>
        </p:txBody>
      </p:sp>
      <p:sp>
        <p:nvSpPr>
          <p:cNvPr name="TextBox 27" id="27"/>
          <p:cNvSpPr txBox="true"/>
          <p:nvPr/>
        </p:nvSpPr>
        <p:spPr>
          <a:xfrm rot="0">
            <a:off x="1351969" y="2574792"/>
            <a:ext cx="8697367" cy="2012994"/>
          </a:xfrm>
          <a:prstGeom prst="rect">
            <a:avLst/>
          </a:prstGeom>
        </p:spPr>
        <p:txBody>
          <a:bodyPr anchor="t" rtlCol="false" tIns="0" lIns="0" bIns="0" rIns="0">
            <a:spAutoFit/>
          </a:bodyPr>
          <a:lstStyle/>
          <a:p>
            <a:pPr algn="l" marL="475171" indent="-237585" lvl="1">
              <a:lnSpc>
                <a:spcPts val="3301"/>
              </a:lnSpc>
              <a:buFont typeface="Arial"/>
              <a:buChar char="•"/>
            </a:pPr>
            <a:r>
              <a:rPr lang="en-US" sz="2200">
                <a:solidFill>
                  <a:srgbClr val="343432"/>
                </a:solidFill>
                <a:latin typeface="Open Sauce"/>
                <a:ea typeface="Open Sauce"/>
                <a:cs typeface="Open Sauce"/>
                <a:sym typeface="Open Sauce"/>
              </a:rPr>
              <a:t>Accès rapide aux dernières actualités et publications</a:t>
            </a:r>
          </a:p>
          <a:p>
            <a:pPr algn="l" marL="475171" indent="-237585" lvl="1">
              <a:lnSpc>
                <a:spcPts val="3301"/>
              </a:lnSpc>
              <a:buFont typeface="Arial"/>
              <a:buChar char="•"/>
            </a:pPr>
            <a:r>
              <a:rPr lang="en-US" sz="2200">
                <a:solidFill>
                  <a:srgbClr val="343432"/>
                </a:solidFill>
                <a:latin typeface="Open Sauce"/>
                <a:ea typeface="Open Sauce"/>
                <a:cs typeface="Open Sauce"/>
                <a:sym typeface="Open Sauce"/>
              </a:rPr>
              <a:t>Diffusion des lois, règlements et décisions importantes</a:t>
            </a:r>
          </a:p>
          <a:p>
            <a:pPr algn="l" marL="475171" indent="-237585" lvl="1">
              <a:lnSpc>
                <a:spcPts val="3301"/>
              </a:lnSpc>
              <a:buFont typeface="Arial"/>
              <a:buChar char="•"/>
            </a:pPr>
            <a:r>
              <a:rPr lang="en-US" sz="2200">
                <a:solidFill>
                  <a:srgbClr val="343432"/>
                </a:solidFill>
                <a:latin typeface="Open Sauce"/>
                <a:ea typeface="Open Sauce"/>
                <a:cs typeface="Open Sauce"/>
                <a:sym typeface="Open Sauce"/>
              </a:rPr>
              <a:t>Téléchargement de rapports, guides, formulaires</a:t>
            </a:r>
          </a:p>
          <a:p>
            <a:pPr algn="l" marL="475171" indent="-237585" lvl="1">
              <a:lnSpc>
                <a:spcPts val="3301"/>
              </a:lnSpc>
              <a:buFont typeface="Arial"/>
              <a:buChar char="•"/>
            </a:pPr>
            <a:r>
              <a:rPr lang="en-US" sz="2200">
                <a:solidFill>
                  <a:srgbClr val="343432"/>
                </a:solidFill>
                <a:latin typeface="Open Sauce"/>
                <a:ea typeface="Open Sauce"/>
                <a:cs typeface="Open Sauce"/>
                <a:sym typeface="Open Sauce"/>
              </a:rPr>
              <a:t>Moteur de recherche intégré</a:t>
            </a:r>
          </a:p>
          <a:p>
            <a:pPr algn="l" marL="0" indent="0" lvl="0">
              <a:lnSpc>
                <a:spcPts val="3301"/>
              </a:lnSpc>
            </a:pPr>
          </a:p>
        </p:txBody>
      </p:sp>
      <p:sp>
        <p:nvSpPr>
          <p:cNvPr name="TextBox 28" id="28"/>
          <p:cNvSpPr txBox="true"/>
          <p:nvPr/>
        </p:nvSpPr>
        <p:spPr>
          <a:xfrm rot="0">
            <a:off x="16463522" y="8807793"/>
            <a:ext cx="1140579" cy="734060"/>
          </a:xfrm>
          <a:prstGeom prst="rect">
            <a:avLst/>
          </a:prstGeom>
        </p:spPr>
        <p:txBody>
          <a:bodyPr anchor="t" rtlCol="false" tIns="0" lIns="0" bIns="0" rIns="0">
            <a:spAutoFit/>
          </a:bodyPr>
          <a:lstStyle/>
          <a:p>
            <a:pPr algn="ctr" marL="0" indent="0" lvl="0">
              <a:lnSpc>
                <a:spcPts val="5920"/>
              </a:lnSpc>
              <a:spcBef>
                <a:spcPct val="0"/>
              </a:spcBef>
            </a:pPr>
            <a:r>
              <a:rPr lang="en-US" b="true" sz="4625">
                <a:solidFill>
                  <a:srgbClr val="343432"/>
                </a:solidFill>
                <a:latin typeface="Open Sauce Bold"/>
                <a:ea typeface="Open Sauce Bold"/>
                <a:cs typeface="Open Sauce Bold"/>
                <a:sym typeface="Open Sauce Bold"/>
              </a:rPr>
              <a:t>5</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14276" y="0"/>
            <a:ext cx="18602276" cy="6407822"/>
            <a:chOff x="0" y="0"/>
            <a:chExt cx="4899365" cy="1687657"/>
          </a:xfrm>
        </p:grpSpPr>
        <p:sp>
          <p:nvSpPr>
            <p:cNvPr name="Freeform 3" id="3"/>
            <p:cNvSpPr/>
            <p:nvPr/>
          </p:nvSpPr>
          <p:spPr>
            <a:xfrm flipH="false" flipV="false" rot="0">
              <a:off x="0" y="0"/>
              <a:ext cx="4899365" cy="1687657"/>
            </a:xfrm>
            <a:custGeom>
              <a:avLst/>
              <a:gdLst/>
              <a:ahLst/>
              <a:cxnLst/>
              <a:rect r="r" b="b" t="t" l="l"/>
              <a:pathLst>
                <a:path h="1687657" w="4899365">
                  <a:moveTo>
                    <a:pt x="0" y="0"/>
                  </a:moveTo>
                  <a:lnTo>
                    <a:pt x="4899365" y="0"/>
                  </a:lnTo>
                  <a:lnTo>
                    <a:pt x="4899365" y="1687657"/>
                  </a:lnTo>
                  <a:lnTo>
                    <a:pt x="0" y="1687657"/>
                  </a:lnTo>
                  <a:close/>
                </a:path>
              </a:pathLst>
            </a:custGeom>
            <a:solidFill>
              <a:srgbClr val="3F9C39"/>
            </a:solidFill>
            <a:ln cap="sq">
              <a:noFill/>
              <a:prstDash val="solid"/>
              <a:miter/>
            </a:ln>
          </p:spPr>
        </p:sp>
        <p:sp>
          <p:nvSpPr>
            <p:cNvPr name="TextBox 4" id="4"/>
            <p:cNvSpPr txBox="true"/>
            <p:nvPr/>
          </p:nvSpPr>
          <p:spPr>
            <a:xfrm>
              <a:off x="0" y="-38100"/>
              <a:ext cx="4899365" cy="1725757"/>
            </a:xfrm>
            <a:prstGeom prst="rect">
              <a:avLst/>
            </a:prstGeom>
          </p:spPr>
          <p:txBody>
            <a:bodyPr anchor="ctr" rtlCol="false" tIns="50800" lIns="50800" bIns="50800" rIns="50800"/>
            <a:lstStyle/>
            <a:p>
              <a:pPr algn="ctr" marL="0" indent="0" lvl="0">
                <a:lnSpc>
                  <a:spcPts val="3035"/>
                </a:lnSpc>
                <a:spcBef>
                  <a:spcPct val="0"/>
                </a:spcBef>
              </a:pPr>
            </a:p>
          </p:txBody>
        </p:sp>
      </p:grpSp>
      <p:grpSp>
        <p:nvGrpSpPr>
          <p:cNvPr name="Group 5" id="5"/>
          <p:cNvGrpSpPr/>
          <p:nvPr/>
        </p:nvGrpSpPr>
        <p:grpSpPr>
          <a:xfrm rot="0">
            <a:off x="-2667279" y="3636569"/>
            <a:ext cx="5578401" cy="557840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035D61">
                  <a:alpha val="29804"/>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8" id="8"/>
          <p:cNvGrpSpPr/>
          <p:nvPr/>
        </p:nvGrpSpPr>
        <p:grpSpPr>
          <a:xfrm rot="0">
            <a:off x="14917787" y="-3041985"/>
            <a:ext cx="5578401" cy="557840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alpha val="29804"/>
                </a:srgbClr>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1" id="11"/>
          <p:cNvSpPr/>
          <p:nvPr/>
        </p:nvSpPr>
        <p:spPr>
          <a:xfrm flipH="false" flipV="false" rot="0">
            <a:off x="2911122" y="8381118"/>
            <a:ext cx="789033" cy="833852"/>
          </a:xfrm>
          <a:custGeom>
            <a:avLst/>
            <a:gdLst/>
            <a:ahLst/>
            <a:cxnLst/>
            <a:rect r="r" b="b" t="t" l="l"/>
            <a:pathLst>
              <a:path h="833852" w="789033">
                <a:moveTo>
                  <a:pt x="0" y="0"/>
                </a:moveTo>
                <a:lnTo>
                  <a:pt x="789033" y="0"/>
                </a:lnTo>
                <a:lnTo>
                  <a:pt x="789033" y="833852"/>
                </a:lnTo>
                <a:lnTo>
                  <a:pt x="0" y="833852"/>
                </a:lnTo>
                <a:lnTo>
                  <a:pt x="0" y="0"/>
                </a:lnTo>
                <a:close/>
              </a:path>
            </a:pathLst>
          </a:custGeom>
          <a:blipFill>
            <a:blip r:embed="rId2"/>
            <a:stretch>
              <a:fillRect l="0" t="0" r="0" b="0"/>
            </a:stretch>
          </a:blipFill>
        </p:spPr>
      </p:sp>
      <p:sp>
        <p:nvSpPr>
          <p:cNvPr name="Freeform 12" id="12"/>
          <p:cNvSpPr/>
          <p:nvPr/>
        </p:nvSpPr>
        <p:spPr>
          <a:xfrm flipH="false" flipV="false" rot="0">
            <a:off x="5267236" y="9214970"/>
            <a:ext cx="1067471" cy="1070696"/>
          </a:xfrm>
          <a:custGeom>
            <a:avLst/>
            <a:gdLst/>
            <a:ahLst/>
            <a:cxnLst/>
            <a:rect r="r" b="b" t="t" l="l"/>
            <a:pathLst>
              <a:path h="1070696" w="1067471">
                <a:moveTo>
                  <a:pt x="0" y="0"/>
                </a:moveTo>
                <a:lnTo>
                  <a:pt x="1067471" y="0"/>
                </a:lnTo>
                <a:lnTo>
                  <a:pt x="1067471" y="1070696"/>
                </a:lnTo>
                <a:lnTo>
                  <a:pt x="0" y="1070696"/>
                </a:lnTo>
                <a:lnTo>
                  <a:pt x="0" y="0"/>
                </a:lnTo>
                <a:close/>
              </a:path>
            </a:pathLst>
          </a:custGeom>
          <a:blipFill>
            <a:blip r:embed="rId3"/>
            <a:stretch>
              <a:fillRect l="0" t="0" r="0" b="0"/>
            </a:stretch>
          </a:blipFill>
        </p:spPr>
      </p:sp>
      <p:sp>
        <p:nvSpPr>
          <p:cNvPr name="Freeform 13" id="13"/>
          <p:cNvSpPr/>
          <p:nvPr/>
        </p:nvSpPr>
        <p:spPr>
          <a:xfrm flipH="false" flipV="false" rot="0">
            <a:off x="7288045" y="7649250"/>
            <a:ext cx="3711909" cy="1463738"/>
          </a:xfrm>
          <a:custGeom>
            <a:avLst/>
            <a:gdLst/>
            <a:ahLst/>
            <a:cxnLst/>
            <a:rect r="r" b="b" t="t" l="l"/>
            <a:pathLst>
              <a:path h="1463738" w="3711909">
                <a:moveTo>
                  <a:pt x="0" y="0"/>
                </a:moveTo>
                <a:lnTo>
                  <a:pt x="3711910" y="0"/>
                </a:lnTo>
                <a:lnTo>
                  <a:pt x="3711910" y="1463737"/>
                </a:lnTo>
                <a:lnTo>
                  <a:pt x="0" y="1463737"/>
                </a:lnTo>
                <a:lnTo>
                  <a:pt x="0" y="0"/>
                </a:lnTo>
                <a:close/>
              </a:path>
            </a:pathLst>
          </a:custGeom>
          <a:blipFill>
            <a:blip r:embed="rId4"/>
            <a:stretch>
              <a:fillRect l="0" t="0" r="0" b="0"/>
            </a:stretch>
          </a:blipFill>
        </p:spPr>
      </p:sp>
      <p:sp>
        <p:nvSpPr>
          <p:cNvPr name="Freeform 14" id="14"/>
          <p:cNvSpPr/>
          <p:nvPr/>
        </p:nvSpPr>
        <p:spPr>
          <a:xfrm flipH="false" flipV="false" rot="0">
            <a:off x="10999955" y="8381118"/>
            <a:ext cx="3277073" cy="1214445"/>
          </a:xfrm>
          <a:custGeom>
            <a:avLst/>
            <a:gdLst/>
            <a:ahLst/>
            <a:cxnLst/>
            <a:rect r="r" b="b" t="t" l="l"/>
            <a:pathLst>
              <a:path h="1214445" w="3277073">
                <a:moveTo>
                  <a:pt x="0" y="0"/>
                </a:moveTo>
                <a:lnTo>
                  <a:pt x="3277072" y="0"/>
                </a:lnTo>
                <a:lnTo>
                  <a:pt x="3277072" y="1214445"/>
                </a:lnTo>
                <a:lnTo>
                  <a:pt x="0" y="1214445"/>
                </a:lnTo>
                <a:lnTo>
                  <a:pt x="0" y="0"/>
                </a:lnTo>
                <a:close/>
              </a:path>
            </a:pathLst>
          </a:custGeom>
          <a:blipFill>
            <a:blip r:embed="rId5"/>
            <a:stretch>
              <a:fillRect l="0" t="0" r="0" b="0"/>
            </a:stretch>
          </a:blipFill>
        </p:spPr>
      </p:sp>
      <p:sp>
        <p:nvSpPr>
          <p:cNvPr name="TextBox 15" id="15"/>
          <p:cNvSpPr txBox="true"/>
          <p:nvPr/>
        </p:nvSpPr>
        <p:spPr>
          <a:xfrm rot="0">
            <a:off x="1028700" y="1487666"/>
            <a:ext cx="10612014" cy="1048750"/>
          </a:xfrm>
          <a:prstGeom prst="rect">
            <a:avLst/>
          </a:prstGeom>
        </p:spPr>
        <p:txBody>
          <a:bodyPr anchor="t" rtlCol="false" tIns="0" lIns="0" bIns="0" rIns="0">
            <a:spAutoFit/>
          </a:bodyPr>
          <a:lstStyle/>
          <a:p>
            <a:pPr algn="l">
              <a:lnSpc>
                <a:spcPts val="8564"/>
              </a:lnSpc>
              <a:spcBef>
                <a:spcPct val="0"/>
              </a:spcBef>
            </a:pPr>
            <a:r>
              <a:rPr lang="en-US" b="true" sz="6206">
                <a:solidFill>
                  <a:srgbClr val="FFFFFF"/>
                </a:solidFill>
                <a:latin typeface="Open Sauce Bold"/>
                <a:ea typeface="Open Sauce Bold"/>
                <a:cs typeface="Open Sauce Bold"/>
                <a:sym typeface="Open Sauce Bold"/>
              </a:rPr>
              <a:t>Technologies et sécurité</a:t>
            </a:r>
          </a:p>
        </p:txBody>
      </p:sp>
      <p:sp>
        <p:nvSpPr>
          <p:cNvPr name="TextBox 16" id="16"/>
          <p:cNvSpPr txBox="true"/>
          <p:nvPr/>
        </p:nvSpPr>
        <p:spPr>
          <a:xfrm rot="0">
            <a:off x="2911122" y="5057775"/>
            <a:ext cx="13880280" cy="3165979"/>
          </a:xfrm>
          <a:prstGeom prst="rect">
            <a:avLst/>
          </a:prstGeom>
        </p:spPr>
        <p:txBody>
          <a:bodyPr anchor="t" rtlCol="false" tIns="0" lIns="0" bIns="0" rIns="0">
            <a:spAutoFit/>
          </a:bodyPr>
          <a:lstStyle/>
          <a:p>
            <a:pPr algn="ctr" marL="752224" indent="-376112" lvl="1">
              <a:lnSpc>
                <a:spcPts val="5051"/>
              </a:lnSpc>
              <a:buFont typeface="Arial"/>
              <a:buChar char="•"/>
            </a:pPr>
            <a:r>
              <a:rPr lang="en-US" sz="3484">
                <a:solidFill>
                  <a:srgbClr val="FDFBFB"/>
                </a:solidFill>
                <a:latin typeface="Open Sauce"/>
                <a:ea typeface="Open Sauce"/>
                <a:cs typeface="Open Sauce"/>
                <a:sym typeface="Open Sauce"/>
              </a:rPr>
              <a:t>Développé avec Angular (front-end moderne et performant)</a:t>
            </a:r>
          </a:p>
          <a:p>
            <a:pPr algn="ctr" marL="752224" indent="-376112" lvl="1">
              <a:lnSpc>
                <a:spcPts val="5051"/>
              </a:lnSpc>
              <a:buFont typeface="Arial"/>
              <a:buChar char="•"/>
            </a:pPr>
            <a:r>
              <a:rPr lang="en-US" sz="3484">
                <a:solidFill>
                  <a:srgbClr val="FDFBFB"/>
                </a:solidFill>
                <a:latin typeface="Open Sauce"/>
                <a:ea typeface="Open Sauce"/>
                <a:cs typeface="Open Sauce"/>
                <a:sym typeface="Open Sauce"/>
              </a:rPr>
              <a:t>Backend Spring Boot / PostgreSQL</a:t>
            </a:r>
          </a:p>
          <a:p>
            <a:pPr algn="ctr" marL="752224" indent="-376112" lvl="1">
              <a:lnSpc>
                <a:spcPts val="5051"/>
              </a:lnSpc>
              <a:buFont typeface="Arial"/>
              <a:buChar char="•"/>
            </a:pPr>
            <a:r>
              <a:rPr lang="en-US" sz="3484">
                <a:solidFill>
                  <a:srgbClr val="343432"/>
                </a:solidFill>
                <a:latin typeface="Open Sauce"/>
                <a:ea typeface="Open Sauce"/>
                <a:cs typeface="Open Sauce"/>
                <a:sym typeface="Open Sauce"/>
              </a:rPr>
              <a:t>Hébergement sécurisé (HTTPS, authentification forte)</a:t>
            </a:r>
          </a:p>
          <a:p>
            <a:pPr algn="ctr" marL="752224" indent="-376112" lvl="1">
              <a:lnSpc>
                <a:spcPts val="5051"/>
              </a:lnSpc>
              <a:buFont typeface="Arial"/>
              <a:buChar char="•"/>
            </a:pPr>
            <a:r>
              <a:rPr lang="en-US" sz="3484">
                <a:solidFill>
                  <a:srgbClr val="343432"/>
                </a:solidFill>
                <a:latin typeface="Open Sauce"/>
                <a:ea typeface="Open Sauce"/>
                <a:cs typeface="Open Sauce"/>
                <a:sym typeface="Open Sauce"/>
              </a:rPr>
              <a:t>Sauvegardes automatiques et gestion des rôles utilisateurs</a:t>
            </a:r>
          </a:p>
          <a:p>
            <a:pPr algn="ctr" marL="0" indent="0" lvl="0">
              <a:lnSpc>
                <a:spcPts val="5051"/>
              </a:lnSpc>
            </a:pPr>
          </a:p>
        </p:txBody>
      </p:sp>
      <p:sp>
        <p:nvSpPr>
          <p:cNvPr name="TextBox 17" id="17"/>
          <p:cNvSpPr txBox="true"/>
          <p:nvPr/>
        </p:nvSpPr>
        <p:spPr>
          <a:xfrm rot="0">
            <a:off x="17136698" y="9364239"/>
            <a:ext cx="1140579" cy="734060"/>
          </a:xfrm>
          <a:prstGeom prst="rect">
            <a:avLst/>
          </a:prstGeom>
        </p:spPr>
        <p:txBody>
          <a:bodyPr anchor="t" rtlCol="false" tIns="0" lIns="0" bIns="0" rIns="0">
            <a:spAutoFit/>
          </a:bodyPr>
          <a:lstStyle/>
          <a:p>
            <a:pPr algn="ctr" marL="0" indent="0" lvl="0">
              <a:lnSpc>
                <a:spcPts val="5920"/>
              </a:lnSpc>
              <a:spcBef>
                <a:spcPct val="0"/>
              </a:spcBef>
            </a:pPr>
            <a:r>
              <a:rPr lang="en-US" b="true" sz="4625">
                <a:solidFill>
                  <a:srgbClr val="343432"/>
                </a:solidFill>
                <a:latin typeface="Open Sauce Bold"/>
                <a:ea typeface="Open Sauce Bold"/>
                <a:cs typeface="Open Sauce Bold"/>
                <a:sym typeface="Open Sauce Bold"/>
              </a:rPr>
              <a:t>6</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4994300" y="3675559"/>
            <a:ext cx="3293700" cy="6611441"/>
          </a:xfrm>
          <a:custGeom>
            <a:avLst/>
            <a:gdLst/>
            <a:ahLst/>
            <a:cxnLst/>
            <a:rect r="r" b="b" t="t" l="l"/>
            <a:pathLst>
              <a:path h="6611441" w="3293700">
                <a:moveTo>
                  <a:pt x="0" y="0"/>
                </a:moveTo>
                <a:lnTo>
                  <a:pt x="3293700" y="0"/>
                </a:lnTo>
                <a:lnTo>
                  <a:pt x="3293700" y="6611441"/>
                </a:lnTo>
                <a:lnTo>
                  <a:pt x="0" y="66114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4" id="4"/>
          <p:cNvGrpSpPr/>
          <p:nvPr/>
        </p:nvGrpSpPr>
        <p:grpSpPr>
          <a:xfrm rot="0">
            <a:off x="-2364371" y="-2474096"/>
            <a:ext cx="5578401" cy="557840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7" id="7"/>
          <p:cNvGrpSpPr/>
          <p:nvPr/>
        </p:nvGrpSpPr>
        <p:grpSpPr>
          <a:xfrm rot="0">
            <a:off x="1256350" y="3876969"/>
            <a:ext cx="1010697" cy="101069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10" id="10"/>
          <p:cNvGrpSpPr/>
          <p:nvPr/>
        </p:nvGrpSpPr>
        <p:grpSpPr>
          <a:xfrm rot="0">
            <a:off x="4856034" y="3348832"/>
            <a:ext cx="8575931" cy="3086100"/>
            <a:chOff x="0" y="0"/>
            <a:chExt cx="2258681" cy="812800"/>
          </a:xfrm>
        </p:grpSpPr>
        <p:sp>
          <p:nvSpPr>
            <p:cNvPr name="Freeform 11" id="11"/>
            <p:cNvSpPr/>
            <p:nvPr/>
          </p:nvSpPr>
          <p:spPr>
            <a:xfrm flipH="false" flipV="false" rot="0">
              <a:off x="0" y="0"/>
              <a:ext cx="2258682" cy="812800"/>
            </a:xfrm>
            <a:custGeom>
              <a:avLst/>
              <a:gdLst/>
              <a:ahLst/>
              <a:cxnLst/>
              <a:rect r="r" b="b" t="t" l="l"/>
              <a:pathLst>
                <a:path h="812800" w="2258682">
                  <a:moveTo>
                    <a:pt x="37013" y="0"/>
                  </a:moveTo>
                  <a:lnTo>
                    <a:pt x="2221669" y="0"/>
                  </a:lnTo>
                  <a:cubicBezTo>
                    <a:pt x="2231485" y="0"/>
                    <a:pt x="2240899" y="3900"/>
                    <a:pt x="2247841" y="10841"/>
                  </a:cubicBezTo>
                  <a:cubicBezTo>
                    <a:pt x="2254782" y="17782"/>
                    <a:pt x="2258682" y="27196"/>
                    <a:pt x="2258682" y="37013"/>
                  </a:cubicBezTo>
                  <a:lnTo>
                    <a:pt x="2258682" y="775787"/>
                  </a:lnTo>
                  <a:cubicBezTo>
                    <a:pt x="2258682" y="796229"/>
                    <a:pt x="2242110" y="812800"/>
                    <a:pt x="2221669" y="812800"/>
                  </a:cubicBezTo>
                  <a:lnTo>
                    <a:pt x="37013" y="812800"/>
                  </a:lnTo>
                  <a:cubicBezTo>
                    <a:pt x="27196" y="812800"/>
                    <a:pt x="17782" y="808900"/>
                    <a:pt x="10841" y="801959"/>
                  </a:cubicBezTo>
                  <a:cubicBezTo>
                    <a:pt x="3900" y="795018"/>
                    <a:pt x="0" y="785604"/>
                    <a:pt x="0" y="775787"/>
                  </a:cubicBezTo>
                  <a:lnTo>
                    <a:pt x="0" y="37013"/>
                  </a:lnTo>
                  <a:cubicBezTo>
                    <a:pt x="0" y="27196"/>
                    <a:pt x="3900" y="17782"/>
                    <a:pt x="10841" y="10841"/>
                  </a:cubicBezTo>
                  <a:cubicBezTo>
                    <a:pt x="17782" y="3900"/>
                    <a:pt x="27196" y="0"/>
                    <a:pt x="37013" y="0"/>
                  </a:cubicBezTo>
                  <a:close/>
                </a:path>
              </a:pathLst>
            </a:custGeom>
            <a:solidFill>
              <a:srgbClr val="106861"/>
            </a:solidFill>
            <a:ln w="66675" cap="rnd">
              <a:solidFill>
                <a:srgbClr val="FFFFFF"/>
              </a:solidFill>
              <a:prstDash val="solid"/>
              <a:round/>
            </a:ln>
          </p:spPr>
        </p:sp>
        <p:sp>
          <p:nvSpPr>
            <p:cNvPr name="TextBox 12" id="12"/>
            <p:cNvSpPr txBox="true"/>
            <p:nvPr/>
          </p:nvSpPr>
          <p:spPr>
            <a:xfrm>
              <a:off x="0" y="-28575"/>
              <a:ext cx="2258681" cy="841375"/>
            </a:xfrm>
            <a:prstGeom prst="rect">
              <a:avLst/>
            </a:prstGeom>
          </p:spPr>
          <p:txBody>
            <a:bodyPr anchor="ctr" rtlCol="false" tIns="50800" lIns="50800" bIns="50800" rIns="50800"/>
            <a:lstStyle/>
            <a:p>
              <a:pPr algn="ctr" marL="0" indent="0" lvl="0">
                <a:lnSpc>
                  <a:spcPts val="2484"/>
                </a:lnSpc>
                <a:spcBef>
                  <a:spcPct val="0"/>
                </a:spcBef>
              </a:pPr>
            </a:p>
          </p:txBody>
        </p:sp>
      </p:grpSp>
      <p:sp>
        <p:nvSpPr>
          <p:cNvPr name="TextBox 13" id="13"/>
          <p:cNvSpPr txBox="true"/>
          <p:nvPr/>
        </p:nvSpPr>
        <p:spPr>
          <a:xfrm rot="0">
            <a:off x="5296722" y="3517633"/>
            <a:ext cx="7694557" cy="2616243"/>
          </a:xfrm>
          <a:prstGeom prst="rect">
            <a:avLst/>
          </a:prstGeom>
        </p:spPr>
        <p:txBody>
          <a:bodyPr anchor="t" rtlCol="false" tIns="0" lIns="0" bIns="0" rIns="0">
            <a:spAutoFit/>
          </a:bodyPr>
          <a:lstStyle/>
          <a:p>
            <a:pPr algn="ctr">
              <a:lnSpc>
                <a:spcPts val="10539"/>
              </a:lnSpc>
              <a:spcBef>
                <a:spcPct val="0"/>
              </a:spcBef>
            </a:pPr>
            <a:r>
              <a:rPr lang="en-US" b="true" sz="7637">
                <a:solidFill>
                  <a:srgbClr val="FFFFFF"/>
                </a:solidFill>
                <a:latin typeface="Open Sauce Bold"/>
                <a:ea typeface="Open Sauce Bold"/>
                <a:cs typeface="Open Sauce Bold"/>
                <a:sym typeface="Open Sauce Bold"/>
              </a:rPr>
              <a:t>Impact &amp; bénéfices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994300" y="3675559"/>
            <a:ext cx="3293700" cy="6611441"/>
          </a:xfrm>
          <a:custGeom>
            <a:avLst/>
            <a:gdLst/>
            <a:ahLst/>
            <a:cxnLst/>
            <a:rect r="r" b="b" t="t" l="l"/>
            <a:pathLst>
              <a:path h="6611441" w="3293700">
                <a:moveTo>
                  <a:pt x="0" y="0"/>
                </a:moveTo>
                <a:lnTo>
                  <a:pt x="3293700" y="0"/>
                </a:lnTo>
                <a:lnTo>
                  <a:pt x="3293700" y="6611441"/>
                </a:lnTo>
                <a:lnTo>
                  <a:pt x="0" y="66114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AutoShape 3" id="3"/>
          <p:cNvSpPr/>
          <p:nvPr/>
        </p:nvSpPr>
        <p:spPr>
          <a:xfrm>
            <a:off x="4198133" y="4951155"/>
            <a:ext cx="897922" cy="0"/>
          </a:xfrm>
          <a:prstGeom prst="line">
            <a:avLst/>
          </a:prstGeom>
          <a:ln cap="rnd" w="28575">
            <a:solidFill>
              <a:srgbClr val="035D61"/>
            </a:solidFill>
            <a:prstDash val="sysDot"/>
            <a:headEnd type="none" len="sm" w="sm"/>
            <a:tailEnd type="oval" len="lg" w="lg"/>
          </a:ln>
        </p:spPr>
      </p:sp>
      <p:sp>
        <p:nvSpPr>
          <p:cNvPr name="Freeform 4" id="4"/>
          <p:cNvSpPr/>
          <p:nvPr/>
        </p:nvSpPr>
        <p:spPr>
          <a:xfrm flipH="false" flipV="false" rot="0">
            <a:off x="1885579" y="3810757"/>
            <a:ext cx="2312177" cy="2312177"/>
          </a:xfrm>
          <a:custGeom>
            <a:avLst/>
            <a:gdLst/>
            <a:ahLst/>
            <a:cxnLst/>
            <a:rect r="r" b="b" t="t" l="l"/>
            <a:pathLst>
              <a:path h="2312177" w="2312177">
                <a:moveTo>
                  <a:pt x="0" y="0"/>
                </a:moveTo>
                <a:lnTo>
                  <a:pt x="2312177" y="0"/>
                </a:lnTo>
                <a:lnTo>
                  <a:pt x="2312177" y="2312177"/>
                </a:lnTo>
                <a:lnTo>
                  <a:pt x="0" y="23121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rnd">
            <a:noFill/>
            <a:prstDash val="solid"/>
            <a:round/>
          </a:ln>
        </p:spPr>
      </p:sp>
      <p:pic>
        <p:nvPicPr>
          <p:cNvPr name="Picture 5" id="5"/>
          <p:cNvPicPr>
            <a:picLocks noChangeAspect="true"/>
          </p:cNvPicPr>
          <p:nvPr/>
        </p:nvPicPr>
        <p:blipFill>
          <a:blip r:embed="rId6"/>
          <a:stretch>
            <a:fillRect/>
          </a:stretch>
        </p:blipFill>
        <p:spPr>
          <a:xfrm rot="0">
            <a:off x="1971174" y="3892645"/>
            <a:ext cx="2183690" cy="2183690"/>
          </a:xfrm>
          <a:prstGeom prst="rect">
            <a:avLst/>
          </a:prstGeom>
        </p:spPr>
      </p:pic>
      <p:sp>
        <p:nvSpPr>
          <p:cNvPr name="Freeform 6" id="6"/>
          <p:cNvSpPr/>
          <p:nvPr/>
        </p:nvSpPr>
        <p:spPr>
          <a:xfrm flipH="false" flipV="false" rot="0">
            <a:off x="-1801378" y="-610072"/>
            <a:ext cx="3299321" cy="4114800"/>
          </a:xfrm>
          <a:custGeom>
            <a:avLst/>
            <a:gdLst/>
            <a:ahLst/>
            <a:cxnLst/>
            <a:rect r="r" b="b" t="t" l="l"/>
            <a:pathLst>
              <a:path h="4114800" w="3299321">
                <a:moveTo>
                  <a:pt x="0" y="0"/>
                </a:moveTo>
                <a:lnTo>
                  <a:pt x="3299321" y="0"/>
                </a:lnTo>
                <a:lnTo>
                  <a:pt x="3299321"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7" id="7"/>
          <p:cNvSpPr txBox="true"/>
          <p:nvPr/>
        </p:nvSpPr>
        <p:spPr>
          <a:xfrm rot="0">
            <a:off x="1885579" y="1756447"/>
            <a:ext cx="9415632" cy="795212"/>
          </a:xfrm>
          <a:prstGeom prst="rect">
            <a:avLst/>
          </a:prstGeom>
        </p:spPr>
        <p:txBody>
          <a:bodyPr anchor="t" rtlCol="false" tIns="0" lIns="0" bIns="0" rIns="0">
            <a:spAutoFit/>
          </a:bodyPr>
          <a:lstStyle/>
          <a:p>
            <a:pPr algn="l" marL="0" indent="0" lvl="0">
              <a:lnSpc>
                <a:spcPts val="6569"/>
              </a:lnSpc>
              <a:spcBef>
                <a:spcPct val="0"/>
              </a:spcBef>
            </a:pPr>
            <a:r>
              <a:rPr lang="en-US" b="true" sz="4692" spc="-93">
                <a:solidFill>
                  <a:srgbClr val="191919"/>
                </a:solidFill>
                <a:latin typeface="Open Sauce Bold"/>
                <a:ea typeface="Open Sauce Bold"/>
                <a:cs typeface="Open Sauce Bold"/>
                <a:sym typeface="Open Sauce Bold"/>
              </a:rPr>
              <a:t>impact et résultats</a:t>
            </a:r>
          </a:p>
        </p:txBody>
      </p:sp>
      <p:sp>
        <p:nvSpPr>
          <p:cNvPr name="TextBox 8" id="8"/>
          <p:cNvSpPr txBox="true"/>
          <p:nvPr/>
        </p:nvSpPr>
        <p:spPr>
          <a:xfrm rot="0">
            <a:off x="5324655" y="4610699"/>
            <a:ext cx="6609283" cy="2100574"/>
          </a:xfrm>
          <a:prstGeom prst="rect">
            <a:avLst/>
          </a:prstGeom>
        </p:spPr>
        <p:txBody>
          <a:bodyPr anchor="t" rtlCol="false" tIns="0" lIns="0" bIns="0" rIns="0">
            <a:spAutoFit/>
          </a:bodyPr>
          <a:lstStyle/>
          <a:p>
            <a:pPr algn="l" marL="403046" indent="-201523" lvl="1">
              <a:lnSpc>
                <a:spcPts val="2800"/>
              </a:lnSpc>
              <a:buFont typeface="Arial"/>
              <a:buChar char="•"/>
            </a:pPr>
            <a:r>
              <a:rPr lang="en-US" sz="1866">
                <a:solidFill>
                  <a:srgbClr val="343432"/>
                </a:solidFill>
                <a:latin typeface="Open Sauce"/>
                <a:ea typeface="Open Sauce"/>
                <a:cs typeface="Open Sauce"/>
                <a:sym typeface="Open Sauce"/>
              </a:rPr>
              <a:t>Amélioration de la visibilité de l’ARTF</a:t>
            </a:r>
          </a:p>
          <a:p>
            <a:pPr algn="l" marL="403046" indent="-201523" lvl="1">
              <a:lnSpc>
                <a:spcPts val="2800"/>
              </a:lnSpc>
              <a:buFont typeface="Arial"/>
              <a:buChar char="•"/>
            </a:pPr>
            <a:r>
              <a:rPr lang="en-US" sz="1866">
                <a:solidFill>
                  <a:srgbClr val="343432"/>
                </a:solidFill>
                <a:latin typeface="Open Sauce"/>
                <a:ea typeface="Open Sauce"/>
                <a:cs typeface="Open Sauce"/>
                <a:sym typeface="Open Sauce"/>
              </a:rPr>
              <a:t>Simplification des démarches administratives</a:t>
            </a:r>
          </a:p>
          <a:p>
            <a:pPr algn="l" marL="403046" indent="-201523" lvl="1">
              <a:lnSpc>
                <a:spcPts val="2800"/>
              </a:lnSpc>
              <a:buFont typeface="Arial"/>
              <a:buChar char="•"/>
            </a:pPr>
            <a:r>
              <a:rPr lang="en-US" sz="1866">
                <a:solidFill>
                  <a:srgbClr val="343432"/>
                </a:solidFill>
                <a:latin typeface="Open Sauce"/>
                <a:ea typeface="Open Sauce"/>
                <a:cs typeface="Open Sauce"/>
                <a:sym typeface="Open Sauce"/>
              </a:rPr>
              <a:t>Gain de temps pour les opérateurs</a:t>
            </a:r>
          </a:p>
          <a:p>
            <a:pPr algn="l" marL="403046" indent="-201523" lvl="1">
              <a:lnSpc>
                <a:spcPts val="2800"/>
              </a:lnSpc>
              <a:buFont typeface="Arial"/>
              <a:buChar char="•"/>
            </a:pPr>
            <a:r>
              <a:rPr lang="en-US" sz="1866">
                <a:solidFill>
                  <a:srgbClr val="343432"/>
                </a:solidFill>
                <a:latin typeface="Open Sauce"/>
                <a:ea typeface="Open Sauce"/>
                <a:cs typeface="Open Sauce"/>
                <a:sym typeface="Open Sauce"/>
              </a:rPr>
              <a:t>Suivi et traçabilité des procédures</a:t>
            </a:r>
          </a:p>
          <a:p>
            <a:pPr algn="l" marL="403046" indent="-201523" lvl="1">
              <a:lnSpc>
                <a:spcPts val="2800"/>
              </a:lnSpc>
              <a:buFont typeface="Arial"/>
              <a:buChar char="•"/>
            </a:pPr>
            <a:r>
              <a:rPr lang="en-US" sz="1866">
                <a:solidFill>
                  <a:srgbClr val="343432"/>
                </a:solidFill>
                <a:latin typeface="Open Sauce"/>
                <a:ea typeface="Open Sauce"/>
                <a:cs typeface="Open Sauce"/>
                <a:sym typeface="Open Sauce"/>
              </a:rPr>
              <a:t>Accès public à l’information réglementaire</a:t>
            </a:r>
          </a:p>
          <a:p>
            <a:pPr algn="l">
              <a:lnSpc>
                <a:spcPts val="2800"/>
              </a:lnSpc>
            </a:pPr>
          </a:p>
        </p:txBody>
      </p:sp>
      <p:sp>
        <p:nvSpPr>
          <p:cNvPr name="TextBox 9" id="9"/>
          <p:cNvSpPr txBox="true"/>
          <p:nvPr/>
        </p:nvSpPr>
        <p:spPr>
          <a:xfrm rot="0">
            <a:off x="1885579" y="2494509"/>
            <a:ext cx="7353454" cy="384170"/>
          </a:xfrm>
          <a:prstGeom prst="rect">
            <a:avLst/>
          </a:prstGeom>
        </p:spPr>
        <p:txBody>
          <a:bodyPr anchor="t" rtlCol="false" tIns="0" lIns="0" bIns="0" rIns="0">
            <a:spAutoFit/>
          </a:bodyPr>
          <a:lstStyle/>
          <a:p>
            <a:pPr algn="l" marL="0" indent="0" lvl="0">
              <a:lnSpc>
                <a:spcPts val="3250"/>
              </a:lnSpc>
            </a:pPr>
            <a:r>
              <a:rPr lang="en-US" sz="2166">
                <a:solidFill>
                  <a:srgbClr val="343432"/>
                </a:solidFill>
                <a:latin typeface="Open Sauce"/>
                <a:ea typeface="Open Sauce"/>
                <a:cs typeface="Open Sauce"/>
                <a:sym typeface="Open Sauce"/>
              </a:rPr>
              <a:t>Un outil au service de la régulation et des usagers</a:t>
            </a:r>
          </a:p>
        </p:txBody>
      </p:sp>
      <p:sp>
        <p:nvSpPr>
          <p:cNvPr name="TextBox 10" id="10"/>
          <p:cNvSpPr txBox="true"/>
          <p:nvPr/>
        </p:nvSpPr>
        <p:spPr>
          <a:xfrm rot="0">
            <a:off x="16844616" y="9035942"/>
            <a:ext cx="1140579" cy="734060"/>
          </a:xfrm>
          <a:prstGeom prst="rect">
            <a:avLst/>
          </a:prstGeom>
        </p:spPr>
        <p:txBody>
          <a:bodyPr anchor="t" rtlCol="false" tIns="0" lIns="0" bIns="0" rIns="0">
            <a:spAutoFit/>
          </a:bodyPr>
          <a:lstStyle/>
          <a:p>
            <a:pPr algn="ctr" marL="0" indent="0" lvl="0">
              <a:lnSpc>
                <a:spcPts val="5920"/>
              </a:lnSpc>
              <a:spcBef>
                <a:spcPct val="0"/>
              </a:spcBef>
            </a:pPr>
            <a:r>
              <a:rPr lang="en-US" b="true" sz="4625">
                <a:solidFill>
                  <a:srgbClr val="FDFBFB"/>
                </a:solidFill>
                <a:latin typeface="Open Sauce Bold"/>
                <a:ea typeface="Open Sauce Bold"/>
                <a:cs typeface="Open Sauce Bold"/>
                <a:sym typeface="Open Sauce Bold"/>
              </a:rPr>
              <a:t>7</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8848"/>
            <a:ext cx="18288000" cy="10251030"/>
            <a:chOff x="0" y="0"/>
            <a:chExt cx="4816593" cy="2699860"/>
          </a:xfrm>
        </p:grpSpPr>
        <p:sp>
          <p:nvSpPr>
            <p:cNvPr name="Freeform 3" id="3"/>
            <p:cNvSpPr/>
            <p:nvPr/>
          </p:nvSpPr>
          <p:spPr>
            <a:xfrm flipH="false" flipV="false" rot="0">
              <a:off x="0" y="0"/>
              <a:ext cx="4816592" cy="2699860"/>
            </a:xfrm>
            <a:custGeom>
              <a:avLst/>
              <a:gdLst/>
              <a:ahLst/>
              <a:cxnLst/>
              <a:rect r="r" b="b" t="t" l="l"/>
              <a:pathLst>
                <a:path h="2699860" w="4816592">
                  <a:moveTo>
                    <a:pt x="0" y="0"/>
                  </a:moveTo>
                  <a:lnTo>
                    <a:pt x="4816592" y="0"/>
                  </a:lnTo>
                  <a:lnTo>
                    <a:pt x="4816592" y="2699860"/>
                  </a:lnTo>
                  <a:lnTo>
                    <a:pt x="0" y="2699860"/>
                  </a:lnTo>
                  <a:close/>
                </a:path>
              </a:pathLst>
            </a:custGeom>
            <a:solidFill>
              <a:srgbClr val="000000">
                <a:alpha val="0"/>
              </a:srgbClr>
            </a:solidFill>
            <a:ln w="381000" cap="sq">
              <a:solidFill>
                <a:srgbClr val="106861"/>
              </a:solidFill>
              <a:prstDash val="solid"/>
              <a:miter/>
            </a:ln>
          </p:spPr>
        </p:sp>
        <p:sp>
          <p:nvSpPr>
            <p:cNvPr name="TextBox 4" id="4"/>
            <p:cNvSpPr txBox="true"/>
            <p:nvPr/>
          </p:nvSpPr>
          <p:spPr>
            <a:xfrm>
              <a:off x="0" y="-38100"/>
              <a:ext cx="4816593" cy="2737960"/>
            </a:xfrm>
            <a:prstGeom prst="rect">
              <a:avLst/>
            </a:prstGeom>
          </p:spPr>
          <p:txBody>
            <a:bodyPr anchor="ctr" rtlCol="false" tIns="50800" lIns="50800" bIns="50800" rIns="50800"/>
            <a:lstStyle/>
            <a:p>
              <a:pPr algn="ctr">
                <a:lnSpc>
                  <a:spcPts val="3035"/>
                </a:lnSpc>
              </a:pPr>
            </a:p>
          </p:txBody>
        </p:sp>
      </p:grpSp>
      <p:pic>
        <p:nvPicPr>
          <p:cNvPr name="Picture 5" id="5"/>
          <p:cNvPicPr>
            <a:picLocks noChangeAspect="true"/>
          </p:cNvPicPr>
          <p:nvPr/>
        </p:nvPicPr>
        <p:blipFill>
          <a:blip r:embed="rId2"/>
          <a:stretch>
            <a:fillRect/>
          </a:stretch>
        </p:blipFill>
        <p:spPr>
          <a:xfrm rot="0">
            <a:off x="8158446" y="405369"/>
            <a:ext cx="9928205" cy="9680282"/>
          </a:xfrm>
          <a:prstGeom prst="rect">
            <a:avLst/>
          </a:prstGeom>
        </p:spPr>
      </p:pic>
      <p:sp>
        <p:nvSpPr>
          <p:cNvPr name="TextBox 6" id="6"/>
          <p:cNvSpPr txBox="true"/>
          <p:nvPr/>
        </p:nvSpPr>
        <p:spPr>
          <a:xfrm rot="0">
            <a:off x="1440437" y="2284531"/>
            <a:ext cx="7380407" cy="795212"/>
          </a:xfrm>
          <a:prstGeom prst="rect">
            <a:avLst/>
          </a:prstGeom>
        </p:spPr>
        <p:txBody>
          <a:bodyPr anchor="t" rtlCol="false" tIns="0" lIns="0" bIns="0" rIns="0">
            <a:spAutoFit/>
          </a:bodyPr>
          <a:lstStyle/>
          <a:p>
            <a:pPr algn="l" marL="0" indent="0" lvl="0">
              <a:lnSpc>
                <a:spcPts val="6569"/>
              </a:lnSpc>
              <a:spcBef>
                <a:spcPct val="0"/>
              </a:spcBef>
            </a:pPr>
            <a:r>
              <a:rPr lang="en-US" b="true" sz="4692" spc="-93">
                <a:solidFill>
                  <a:srgbClr val="191919"/>
                </a:solidFill>
                <a:latin typeface="Open Sauce Bold"/>
                <a:ea typeface="Open Sauce Bold"/>
                <a:cs typeface="Open Sauce Bold"/>
                <a:sym typeface="Open Sauce Bold"/>
              </a:rPr>
              <a:t>Perspectives d’évolution</a:t>
            </a:r>
          </a:p>
        </p:txBody>
      </p:sp>
      <p:sp>
        <p:nvSpPr>
          <p:cNvPr name="TextBox 7" id="7"/>
          <p:cNvSpPr txBox="true"/>
          <p:nvPr/>
        </p:nvSpPr>
        <p:spPr>
          <a:xfrm rot="0">
            <a:off x="1440437" y="3410627"/>
            <a:ext cx="6136428" cy="986990"/>
          </a:xfrm>
          <a:prstGeom prst="rect">
            <a:avLst/>
          </a:prstGeom>
        </p:spPr>
        <p:txBody>
          <a:bodyPr anchor="t" rtlCol="false" tIns="0" lIns="0" bIns="0" rIns="0">
            <a:spAutoFit/>
          </a:bodyPr>
          <a:lstStyle/>
          <a:p>
            <a:pPr algn="l" marL="0" indent="0" lvl="0">
              <a:lnSpc>
                <a:spcPts val="3971"/>
              </a:lnSpc>
              <a:spcBef>
                <a:spcPct val="0"/>
              </a:spcBef>
            </a:pPr>
            <a:r>
              <a:rPr lang="en-US" b="true" sz="2836" spc="-56">
                <a:solidFill>
                  <a:srgbClr val="106861"/>
                </a:solidFill>
                <a:latin typeface="Open Sauce Bold"/>
                <a:ea typeface="Open Sauce Bold"/>
                <a:cs typeface="Open Sauce Bold"/>
                <a:sym typeface="Open Sauce Bold"/>
              </a:rPr>
              <a:t>Interconnexion avec d’autres plateformes gouvernementales</a:t>
            </a:r>
          </a:p>
        </p:txBody>
      </p:sp>
      <p:sp>
        <p:nvSpPr>
          <p:cNvPr name="TextBox 8" id="8"/>
          <p:cNvSpPr txBox="true"/>
          <p:nvPr/>
        </p:nvSpPr>
        <p:spPr>
          <a:xfrm rot="0">
            <a:off x="1440437" y="5086350"/>
            <a:ext cx="4493466" cy="986990"/>
          </a:xfrm>
          <a:prstGeom prst="rect">
            <a:avLst/>
          </a:prstGeom>
        </p:spPr>
        <p:txBody>
          <a:bodyPr anchor="t" rtlCol="false" tIns="0" lIns="0" bIns="0" rIns="0">
            <a:spAutoFit/>
          </a:bodyPr>
          <a:lstStyle/>
          <a:p>
            <a:pPr algn="l" marL="0" indent="0" lvl="0">
              <a:lnSpc>
                <a:spcPts val="3971"/>
              </a:lnSpc>
              <a:spcBef>
                <a:spcPct val="0"/>
              </a:spcBef>
            </a:pPr>
            <a:r>
              <a:rPr lang="en-US" b="true" sz="2836" spc="-56">
                <a:solidFill>
                  <a:srgbClr val="106861"/>
                </a:solidFill>
                <a:latin typeface="Open Sauce Bold"/>
                <a:ea typeface="Open Sauce Bold"/>
                <a:cs typeface="Open Sauce Bold"/>
                <a:sym typeface="Open Sauce Bold"/>
              </a:rPr>
              <a:t>Amélioration continue de l’expérience utilisateur</a:t>
            </a:r>
          </a:p>
        </p:txBody>
      </p:sp>
      <p:sp>
        <p:nvSpPr>
          <p:cNvPr name="TextBox 9" id="9"/>
          <p:cNvSpPr txBox="true"/>
          <p:nvPr/>
        </p:nvSpPr>
        <p:spPr>
          <a:xfrm rot="0">
            <a:off x="16844616" y="9035942"/>
            <a:ext cx="1140579" cy="734060"/>
          </a:xfrm>
          <a:prstGeom prst="rect">
            <a:avLst/>
          </a:prstGeom>
        </p:spPr>
        <p:txBody>
          <a:bodyPr anchor="t" rtlCol="false" tIns="0" lIns="0" bIns="0" rIns="0">
            <a:spAutoFit/>
          </a:bodyPr>
          <a:lstStyle/>
          <a:p>
            <a:pPr algn="ctr" marL="0" indent="0" lvl="0">
              <a:lnSpc>
                <a:spcPts val="5920"/>
              </a:lnSpc>
              <a:spcBef>
                <a:spcPct val="0"/>
              </a:spcBef>
            </a:pPr>
            <a:r>
              <a:rPr lang="en-US" b="true" sz="4625">
                <a:solidFill>
                  <a:srgbClr val="343432"/>
                </a:solidFill>
                <a:latin typeface="Open Sauce Bold"/>
                <a:ea typeface="Open Sauce Bold"/>
                <a:cs typeface="Open Sauce Bold"/>
                <a:sym typeface="Open Sauce Bold"/>
              </a:rPr>
              <a:t>8</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994300" y="3675559"/>
            <a:ext cx="3293700" cy="6611441"/>
          </a:xfrm>
          <a:custGeom>
            <a:avLst/>
            <a:gdLst/>
            <a:ahLst/>
            <a:cxnLst/>
            <a:rect r="r" b="b" t="t" l="l"/>
            <a:pathLst>
              <a:path h="6611441" w="3293700">
                <a:moveTo>
                  <a:pt x="0" y="0"/>
                </a:moveTo>
                <a:lnTo>
                  <a:pt x="3293700" y="0"/>
                </a:lnTo>
                <a:lnTo>
                  <a:pt x="3293700" y="6611441"/>
                </a:lnTo>
                <a:lnTo>
                  <a:pt x="0" y="66114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801378" y="-610072"/>
            <a:ext cx="3299321" cy="4114800"/>
          </a:xfrm>
          <a:custGeom>
            <a:avLst/>
            <a:gdLst/>
            <a:ahLst/>
            <a:cxnLst/>
            <a:rect r="r" b="b" t="t" l="l"/>
            <a:pathLst>
              <a:path h="4114800" w="3299321">
                <a:moveTo>
                  <a:pt x="0" y="0"/>
                </a:moveTo>
                <a:lnTo>
                  <a:pt x="3299321" y="0"/>
                </a:lnTo>
                <a:lnTo>
                  <a:pt x="329932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4" id="4"/>
          <p:cNvSpPr txBox="true"/>
          <p:nvPr/>
        </p:nvSpPr>
        <p:spPr>
          <a:xfrm rot="0">
            <a:off x="7050419" y="4703032"/>
            <a:ext cx="4578521" cy="795212"/>
          </a:xfrm>
          <a:prstGeom prst="rect">
            <a:avLst/>
          </a:prstGeom>
        </p:spPr>
        <p:txBody>
          <a:bodyPr anchor="t" rtlCol="false" tIns="0" lIns="0" bIns="0" rIns="0">
            <a:spAutoFit/>
          </a:bodyPr>
          <a:lstStyle/>
          <a:p>
            <a:pPr algn="l" marL="0" indent="0" lvl="0">
              <a:lnSpc>
                <a:spcPts val="6569"/>
              </a:lnSpc>
              <a:spcBef>
                <a:spcPct val="0"/>
              </a:spcBef>
            </a:pPr>
            <a:r>
              <a:rPr lang="en-US" b="true" sz="4692" spc="-93">
                <a:solidFill>
                  <a:srgbClr val="191919"/>
                </a:solidFill>
                <a:latin typeface="Open Sauce Bold"/>
                <a:ea typeface="Open Sauce Bold"/>
                <a:cs typeface="Open Sauce Bold"/>
                <a:sym typeface="Open Sauce Bold"/>
              </a:rPr>
              <a:t>Démonstration</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237618" y="1737347"/>
            <a:ext cx="3812764" cy="795212"/>
          </a:xfrm>
          <a:prstGeom prst="rect">
            <a:avLst/>
          </a:prstGeom>
        </p:spPr>
        <p:txBody>
          <a:bodyPr anchor="t" rtlCol="false" tIns="0" lIns="0" bIns="0" rIns="0">
            <a:spAutoFit/>
          </a:bodyPr>
          <a:lstStyle/>
          <a:p>
            <a:pPr algn="l" marL="0" indent="0" lvl="0">
              <a:lnSpc>
                <a:spcPts val="6569"/>
              </a:lnSpc>
              <a:spcBef>
                <a:spcPct val="0"/>
              </a:spcBef>
            </a:pPr>
            <a:r>
              <a:rPr lang="en-US" b="true" sz="4692" spc="-93">
                <a:solidFill>
                  <a:srgbClr val="191919"/>
                </a:solidFill>
                <a:latin typeface="Open Sauce Bold"/>
                <a:ea typeface="Open Sauce Bold"/>
                <a:cs typeface="Open Sauce Bold"/>
                <a:sym typeface="Open Sauce Bold"/>
              </a:rPr>
              <a:t>Conclusion</a:t>
            </a:r>
          </a:p>
        </p:txBody>
      </p:sp>
      <p:sp>
        <p:nvSpPr>
          <p:cNvPr name="TextBox 3" id="3"/>
          <p:cNvSpPr txBox="true"/>
          <p:nvPr/>
        </p:nvSpPr>
        <p:spPr>
          <a:xfrm rot="0">
            <a:off x="2340705" y="2984345"/>
            <a:ext cx="14226092" cy="3906515"/>
          </a:xfrm>
          <a:prstGeom prst="rect">
            <a:avLst/>
          </a:prstGeom>
        </p:spPr>
        <p:txBody>
          <a:bodyPr anchor="t" rtlCol="false" tIns="0" lIns="0" bIns="0" rIns="0">
            <a:spAutoFit/>
          </a:bodyPr>
          <a:lstStyle/>
          <a:p>
            <a:pPr algn="just">
              <a:lnSpc>
                <a:spcPts val="4450"/>
              </a:lnSpc>
            </a:pPr>
            <a:r>
              <a:rPr lang="en-US" sz="2966">
                <a:solidFill>
                  <a:srgbClr val="343432"/>
                </a:solidFill>
                <a:latin typeface="Open Sauce"/>
                <a:ea typeface="Open Sauce"/>
                <a:cs typeface="Open Sauce"/>
                <a:sym typeface="Open Sauce"/>
              </a:rPr>
              <a:t>La mise en ligne du site web de l’Autorité de Régulation du Transport Ferroviaire marque une avancée majeure dans la </a:t>
            </a:r>
            <a:r>
              <a:rPr lang="en-US" sz="2966">
                <a:solidFill>
                  <a:srgbClr val="343432"/>
                </a:solidFill>
                <a:latin typeface="Open Sauce"/>
                <a:ea typeface="Open Sauce"/>
                <a:cs typeface="Open Sauce"/>
                <a:sym typeface="Open Sauce"/>
              </a:rPr>
              <a:t>modernisation du secteur ferroviaire gabonais. En offrant un espace numérique transparent, accessible et interactif, l’ARTF renforce son rôle de régulateur au service du public et des opérateurs. Ce portail incarne une vision tournée vers l’avenir — celle d’une institution connectée, efficace et engagée dans la transformation digitale du transport ferroviaire national.</a:t>
            </a:r>
          </a:p>
        </p:txBody>
      </p:sp>
      <p:sp>
        <p:nvSpPr>
          <p:cNvPr name="TextBox 4" id="4"/>
          <p:cNvSpPr txBox="true"/>
          <p:nvPr/>
        </p:nvSpPr>
        <p:spPr>
          <a:xfrm rot="0">
            <a:off x="16844616" y="9035942"/>
            <a:ext cx="1140579" cy="734060"/>
          </a:xfrm>
          <a:prstGeom prst="rect">
            <a:avLst/>
          </a:prstGeom>
        </p:spPr>
        <p:txBody>
          <a:bodyPr anchor="t" rtlCol="false" tIns="0" lIns="0" bIns="0" rIns="0">
            <a:spAutoFit/>
          </a:bodyPr>
          <a:lstStyle/>
          <a:p>
            <a:pPr algn="ctr" marL="0" indent="0" lvl="0">
              <a:lnSpc>
                <a:spcPts val="5920"/>
              </a:lnSpc>
              <a:spcBef>
                <a:spcPct val="0"/>
              </a:spcBef>
            </a:pPr>
            <a:r>
              <a:rPr lang="en-US" b="true" sz="4625">
                <a:solidFill>
                  <a:srgbClr val="343432"/>
                </a:solidFill>
                <a:latin typeface="Open Sauce Bold"/>
                <a:ea typeface="Open Sauce Bold"/>
                <a:cs typeface="Open Sauce Bold"/>
                <a:sym typeface="Open Sauce Bold"/>
              </a:rPr>
              <a:t>9</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99871" y="2680192"/>
            <a:ext cx="8892659" cy="4924128"/>
            <a:chOff x="0" y="0"/>
            <a:chExt cx="2785608" cy="1542473"/>
          </a:xfrm>
        </p:grpSpPr>
        <p:sp>
          <p:nvSpPr>
            <p:cNvPr name="Freeform 3" id="3"/>
            <p:cNvSpPr/>
            <p:nvPr/>
          </p:nvSpPr>
          <p:spPr>
            <a:xfrm flipH="false" flipV="false" rot="0">
              <a:off x="0" y="0"/>
              <a:ext cx="2785608" cy="1542473"/>
            </a:xfrm>
            <a:custGeom>
              <a:avLst/>
              <a:gdLst/>
              <a:ahLst/>
              <a:cxnLst/>
              <a:rect r="r" b="b" t="t" l="l"/>
              <a:pathLst>
                <a:path h="1542473" w="2785608">
                  <a:moveTo>
                    <a:pt x="39177" y="0"/>
                  </a:moveTo>
                  <a:lnTo>
                    <a:pt x="2746431" y="0"/>
                  </a:lnTo>
                  <a:cubicBezTo>
                    <a:pt x="2768068" y="0"/>
                    <a:pt x="2785608" y="17540"/>
                    <a:pt x="2785608" y="39177"/>
                  </a:cubicBezTo>
                  <a:lnTo>
                    <a:pt x="2785608" y="1503296"/>
                  </a:lnTo>
                  <a:cubicBezTo>
                    <a:pt x="2785608" y="1524933"/>
                    <a:pt x="2768068" y="1542473"/>
                    <a:pt x="2746431" y="1542473"/>
                  </a:cubicBezTo>
                  <a:lnTo>
                    <a:pt x="39177" y="1542473"/>
                  </a:lnTo>
                  <a:cubicBezTo>
                    <a:pt x="17540" y="1542473"/>
                    <a:pt x="0" y="1524933"/>
                    <a:pt x="0" y="1503296"/>
                  </a:cubicBezTo>
                  <a:lnTo>
                    <a:pt x="0" y="39177"/>
                  </a:lnTo>
                  <a:cubicBezTo>
                    <a:pt x="0" y="17540"/>
                    <a:pt x="17540" y="0"/>
                    <a:pt x="39177" y="0"/>
                  </a:cubicBezTo>
                  <a:close/>
                </a:path>
              </a:pathLst>
            </a:custGeom>
            <a:solidFill>
              <a:srgbClr val="106861"/>
            </a:solidFill>
            <a:ln cap="rnd">
              <a:noFill/>
              <a:prstDash val="solid"/>
              <a:round/>
            </a:ln>
          </p:spPr>
        </p:sp>
        <p:sp>
          <p:nvSpPr>
            <p:cNvPr name="TextBox 4" id="4"/>
            <p:cNvSpPr txBox="true"/>
            <p:nvPr/>
          </p:nvSpPr>
          <p:spPr>
            <a:xfrm>
              <a:off x="0" y="-38100"/>
              <a:ext cx="2785608" cy="1580573"/>
            </a:xfrm>
            <a:prstGeom prst="rect">
              <a:avLst/>
            </a:prstGeom>
          </p:spPr>
          <p:txBody>
            <a:bodyPr anchor="ctr" rtlCol="false" tIns="50800" lIns="50800" bIns="50800" rIns="50800"/>
            <a:lstStyle/>
            <a:p>
              <a:pPr algn="ctr" marL="0" indent="0" lvl="0">
                <a:lnSpc>
                  <a:spcPts val="3035"/>
                </a:lnSpc>
                <a:spcBef>
                  <a:spcPct val="0"/>
                </a:spcBef>
              </a:pPr>
            </a:p>
          </p:txBody>
        </p:sp>
      </p:grpSp>
      <p:sp>
        <p:nvSpPr>
          <p:cNvPr name="Freeform 5" id="5"/>
          <p:cNvSpPr/>
          <p:nvPr/>
        </p:nvSpPr>
        <p:spPr>
          <a:xfrm flipH="false" flipV="false" rot="0">
            <a:off x="868394" y="2100713"/>
            <a:ext cx="6083085" cy="6083085"/>
          </a:xfrm>
          <a:custGeom>
            <a:avLst/>
            <a:gdLst/>
            <a:ahLst/>
            <a:cxnLst/>
            <a:rect r="r" b="b" t="t" l="l"/>
            <a:pathLst>
              <a:path h="6083085" w="6083085">
                <a:moveTo>
                  <a:pt x="0" y="0"/>
                </a:moveTo>
                <a:lnTo>
                  <a:pt x="6083085" y="0"/>
                </a:lnTo>
                <a:lnTo>
                  <a:pt x="6083085" y="6083086"/>
                </a:lnTo>
                <a:lnTo>
                  <a:pt x="0" y="60830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a:grpSpLocks noChangeAspect="true"/>
          </p:cNvGrpSpPr>
          <p:nvPr/>
        </p:nvGrpSpPr>
        <p:grpSpPr>
          <a:xfrm rot="0">
            <a:off x="1434840" y="2667169"/>
            <a:ext cx="4950194" cy="4950174"/>
            <a:chOff x="0" y="0"/>
            <a:chExt cx="6350000" cy="6349975"/>
          </a:xfrm>
        </p:grpSpPr>
        <p:sp>
          <p:nvSpPr>
            <p:cNvPr name="Freeform 7" id="7"/>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l="0" t="0" r="0" b="0"/>
              </a:stretch>
            </a:blipFill>
          </p:spPr>
        </p:sp>
      </p:grpSp>
      <p:grpSp>
        <p:nvGrpSpPr>
          <p:cNvPr name="Group 8" id="8"/>
          <p:cNvGrpSpPr/>
          <p:nvPr/>
        </p:nvGrpSpPr>
        <p:grpSpPr>
          <a:xfrm rot="0">
            <a:off x="15811589" y="8007246"/>
            <a:ext cx="4201427" cy="420142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11" id="11"/>
          <p:cNvGrpSpPr/>
          <p:nvPr/>
        </p:nvGrpSpPr>
        <p:grpSpPr>
          <a:xfrm rot="0">
            <a:off x="-1868494" y="-2100713"/>
            <a:ext cx="4201427" cy="420142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14" id="14"/>
          <p:cNvGrpSpPr/>
          <p:nvPr/>
        </p:nvGrpSpPr>
        <p:grpSpPr>
          <a:xfrm rot="0">
            <a:off x="16067950" y="6633635"/>
            <a:ext cx="762083" cy="76208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cap="sq">
              <a:no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17" id="17"/>
          <p:cNvGrpSpPr/>
          <p:nvPr/>
        </p:nvGrpSpPr>
        <p:grpSpPr>
          <a:xfrm rot="0">
            <a:off x="-575233" y="9258300"/>
            <a:ext cx="1614906" cy="161490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cap="sq">
              <a:noFill/>
              <a:prstDash val="solid"/>
              <a:miter/>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TextBox 20" id="20"/>
          <p:cNvSpPr txBox="true"/>
          <p:nvPr/>
        </p:nvSpPr>
        <p:spPr>
          <a:xfrm rot="0">
            <a:off x="15367527" y="1961863"/>
            <a:ext cx="1891773" cy="358482"/>
          </a:xfrm>
          <a:prstGeom prst="rect">
            <a:avLst/>
          </a:prstGeom>
        </p:spPr>
        <p:txBody>
          <a:bodyPr anchor="t" rtlCol="false" tIns="0" lIns="0" bIns="0" rIns="0">
            <a:spAutoFit/>
          </a:bodyPr>
          <a:lstStyle/>
          <a:p>
            <a:pPr algn="ctr">
              <a:lnSpc>
                <a:spcPts val="2821"/>
              </a:lnSpc>
            </a:pPr>
            <a:r>
              <a:rPr lang="en-US" sz="2453" spc="-49">
                <a:solidFill>
                  <a:srgbClr val="191919"/>
                </a:solidFill>
                <a:latin typeface="Open Sauce"/>
                <a:ea typeface="Open Sauce"/>
                <a:cs typeface="Open Sauce"/>
                <a:sym typeface="Open Sauce"/>
              </a:rPr>
              <a:t>ARTF</a:t>
            </a:r>
          </a:p>
        </p:txBody>
      </p:sp>
      <p:sp>
        <p:nvSpPr>
          <p:cNvPr name="TextBox 21" id="21"/>
          <p:cNvSpPr txBox="true"/>
          <p:nvPr/>
        </p:nvSpPr>
        <p:spPr>
          <a:xfrm rot="0">
            <a:off x="6782874" y="4064804"/>
            <a:ext cx="5609657" cy="1756845"/>
          </a:xfrm>
          <a:prstGeom prst="rect">
            <a:avLst/>
          </a:prstGeom>
        </p:spPr>
        <p:txBody>
          <a:bodyPr anchor="t" rtlCol="false" tIns="0" lIns="0" bIns="0" rIns="0">
            <a:spAutoFit/>
          </a:bodyPr>
          <a:lstStyle/>
          <a:p>
            <a:pPr algn="l" marL="0" indent="0" lvl="0">
              <a:lnSpc>
                <a:spcPts val="7116"/>
              </a:lnSpc>
              <a:spcBef>
                <a:spcPct val="0"/>
              </a:spcBef>
            </a:pPr>
            <a:r>
              <a:rPr lang="en-US" b="true" sz="5082" spc="477">
                <a:solidFill>
                  <a:srgbClr val="FFFFFF"/>
                </a:solidFill>
                <a:latin typeface="Open Sauce Bold"/>
                <a:ea typeface="Open Sauce Bold"/>
                <a:cs typeface="Open Sauce Bold"/>
                <a:sym typeface="Open Sauce Bold"/>
              </a:rPr>
              <a:t>MERCI POUR L’ATTENTION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DAG14Hej_gg</dc:identifier>
  <dcterms:modified xsi:type="dcterms:W3CDTF">2011-08-01T06:04:30Z</dcterms:modified>
  <cp:revision>1</cp:revision>
  <dc:title>White and Green Simple  Professional Business Project Presentation</dc:title>
</cp:coreProperties>
</file>